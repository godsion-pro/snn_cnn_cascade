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60" r:id="rId2"/>
  </p:sldIdLst>
  <p:sldSz cx="30275213" cy="42803763"/>
  <p:notesSz cx="6858000" cy="9144000"/>
  <p:defaultTextStyle>
    <a:defPPr>
      <a:defRPr lang="ko-KR"/>
    </a:defPPr>
    <a:lvl1pPr marL="0" algn="l" defTabSz="1324735" rtl="0" eaLnBrk="1" latinLnBrk="1" hangingPunct="1">
      <a:defRPr sz="2608" kern="1200">
        <a:solidFill>
          <a:schemeClr val="tx1"/>
        </a:solidFill>
        <a:latin typeface="+mn-lt"/>
        <a:ea typeface="+mn-ea"/>
        <a:cs typeface="+mn-cs"/>
      </a:defRPr>
    </a:lvl1pPr>
    <a:lvl2pPr marL="662369" algn="l" defTabSz="1324735" rtl="0" eaLnBrk="1" latinLnBrk="1" hangingPunct="1">
      <a:defRPr sz="2608" kern="1200">
        <a:solidFill>
          <a:schemeClr val="tx1"/>
        </a:solidFill>
        <a:latin typeface="+mn-lt"/>
        <a:ea typeface="+mn-ea"/>
        <a:cs typeface="+mn-cs"/>
      </a:defRPr>
    </a:lvl2pPr>
    <a:lvl3pPr marL="1324735" algn="l" defTabSz="1324735" rtl="0" eaLnBrk="1" latinLnBrk="1" hangingPunct="1">
      <a:defRPr sz="2608" kern="1200">
        <a:solidFill>
          <a:schemeClr val="tx1"/>
        </a:solidFill>
        <a:latin typeface="+mn-lt"/>
        <a:ea typeface="+mn-ea"/>
        <a:cs typeface="+mn-cs"/>
      </a:defRPr>
    </a:lvl3pPr>
    <a:lvl4pPr marL="1987104" algn="l" defTabSz="1324735" rtl="0" eaLnBrk="1" latinLnBrk="1" hangingPunct="1">
      <a:defRPr sz="2608" kern="1200">
        <a:solidFill>
          <a:schemeClr val="tx1"/>
        </a:solidFill>
        <a:latin typeface="+mn-lt"/>
        <a:ea typeface="+mn-ea"/>
        <a:cs typeface="+mn-cs"/>
      </a:defRPr>
    </a:lvl4pPr>
    <a:lvl5pPr marL="2649474" algn="l" defTabSz="1324735" rtl="0" eaLnBrk="1" latinLnBrk="1" hangingPunct="1">
      <a:defRPr sz="2608" kern="1200">
        <a:solidFill>
          <a:schemeClr val="tx1"/>
        </a:solidFill>
        <a:latin typeface="+mn-lt"/>
        <a:ea typeface="+mn-ea"/>
        <a:cs typeface="+mn-cs"/>
      </a:defRPr>
    </a:lvl5pPr>
    <a:lvl6pPr marL="3311843" algn="l" defTabSz="1324735" rtl="0" eaLnBrk="1" latinLnBrk="1" hangingPunct="1">
      <a:defRPr sz="2608" kern="1200">
        <a:solidFill>
          <a:schemeClr val="tx1"/>
        </a:solidFill>
        <a:latin typeface="+mn-lt"/>
        <a:ea typeface="+mn-ea"/>
        <a:cs typeface="+mn-cs"/>
      </a:defRPr>
    </a:lvl6pPr>
    <a:lvl7pPr marL="3974209" algn="l" defTabSz="1324735" rtl="0" eaLnBrk="1" latinLnBrk="1" hangingPunct="1">
      <a:defRPr sz="2608" kern="1200">
        <a:solidFill>
          <a:schemeClr val="tx1"/>
        </a:solidFill>
        <a:latin typeface="+mn-lt"/>
        <a:ea typeface="+mn-ea"/>
        <a:cs typeface="+mn-cs"/>
      </a:defRPr>
    </a:lvl7pPr>
    <a:lvl8pPr marL="4636578" algn="l" defTabSz="1324735" rtl="0" eaLnBrk="1" latinLnBrk="1" hangingPunct="1">
      <a:defRPr sz="2608" kern="1200">
        <a:solidFill>
          <a:schemeClr val="tx1"/>
        </a:solidFill>
        <a:latin typeface="+mn-lt"/>
        <a:ea typeface="+mn-ea"/>
        <a:cs typeface="+mn-cs"/>
      </a:defRPr>
    </a:lvl8pPr>
    <a:lvl9pPr marL="5298944" algn="l" defTabSz="1324735" rtl="0" eaLnBrk="1" latinLnBrk="1" hangingPunct="1">
      <a:defRPr sz="26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6" userDrawn="1">
          <p15:clr>
            <a:srgbClr val="A4A3A4"/>
          </p15:clr>
        </p15:guide>
        <p15:guide id="2" pos="95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5026" autoAdjust="0"/>
  </p:normalViewPr>
  <p:slideViewPr>
    <p:cSldViewPr>
      <p:cViewPr>
        <p:scale>
          <a:sx n="10" d="100"/>
          <a:sy n="10" d="100"/>
        </p:scale>
        <p:origin x="3302" y="394"/>
      </p:cViewPr>
      <p:guideLst>
        <p:guide orient="horz" pos="13476"/>
        <p:guide pos="95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2B2BC9D-A816-4D0A-858B-1D023B3A8ACA}" type="datetime1">
              <a:rPr lang="ko-KR" altLang="en-US"/>
              <a:pPr lvl="0">
                <a:defRPr lang="ko-KR" altLang="en-US"/>
              </a:pPr>
              <a:t>2026-09-25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09F4262C-968C-4EE9-8164-CE16364706B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32474" rtl="0" eaLnBrk="1" latinLnBrk="1" hangingPunct="1">
      <a:defRPr sz="1739" kern="1200">
        <a:solidFill>
          <a:schemeClr val="tx1"/>
        </a:solidFill>
        <a:latin typeface="+mj-lt"/>
        <a:ea typeface="+mj-ea"/>
        <a:cs typeface="+mj-cs"/>
      </a:defRPr>
    </a:lvl1pPr>
    <a:lvl2pPr marL="662369" algn="l" defTabSz="132474" rtl="0" eaLnBrk="1" latinLnBrk="1" hangingPunct="1">
      <a:defRPr sz="1739" kern="1200">
        <a:solidFill>
          <a:schemeClr val="tx1"/>
        </a:solidFill>
        <a:latin typeface="+mj-lt"/>
        <a:ea typeface="+mj-ea"/>
        <a:cs typeface="+mj-cs"/>
      </a:defRPr>
    </a:lvl2pPr>
    <a:lvl3pPr marL="1324735" algn="l" defTabSz="132474" rtl="0" eaLnBrk="1" latinLnBrk="1" hangingPunct="1">
      <a:defRPr sz="1739" kern="1200">
        <a:solidFill>
          <a:schemeClr val="tx1"/>
        </a:solidFill>
        <a:latin typeface="+mj-lt"/>
        <a:ea typeface="+mj-ea"/>
        <a:cs typeface="+mj-cs"/>
      </a:defRPr>
    </a:lvl3pPr>
    <a:lvl4pPr marL="1987104" algn="l" defTabSz="132474" rtl="0" eaLnBrk="1" latinLnBrk="1" hangingPunct="1">
      <a:defRPr sz="1739" kern="1200">
        <a:solidFill>
          <a:schemeClr val="tx1"/>
        </a:solidFill>
        <a:latin typeface="+mj-lt"/>
        <a:ea typeface="+mj-ea"/>
        <a:cs typeface="+mj-cs"/>
      </a:defRPr>
    </a:lvl4pPr>
    <a:lvl5pPr marL="2649474" algn="l" defTabSz="132474" rtl="0" eaLnBrk="1" latinLnBrk="1" hangingPunct="1">
      <a:defRPr sz="1739" kern="1200">
        <a:solidFill>
          <a:schemeClr val="tx1"/>
        </a:solidFill>
        <a:latin typeface="+mj-lt"/>
        <a:ea typeface="+mj-ea"/>
        <a:cs typeface="+mj-cs"/>
      </a:defRPr>
    </a:lvl5pPr>
    <a:lvl6pPr marL="3311843" algn="l" defTabSz="132474" rtl="0" eaLnBrk="1" latinLnBrk="1" hangingPunct="1">
      <a:defRPr sz="1739" kern="1200">
        <a:solidFill>
          <a:schemeClr val="tx1"/>
        </a:solidFill>
        <a:latin typeface="+mj-lt"/>
        <a:ea typeface="+mj-ea"/>
        <a:cs typeface="+mj-cs"/>
      </a:defRPr>
    </a:lvl6pPr>
    <a:lvl7pPr marL="3974209" algn="l" defTabSz="132474" rtl="0" eaLnBrk="1" latinLnBrk="1" hangingPunct="1">
      <a:defRPr sz="1739" kern="1200">
        <a:solidFill>
          <a:schemeClr val="tx1"/>
        </a:solidFill>
        <a:latin typeface="+mj-lt"/>
        <a:ea typeface="+mj-ea"/>
        <a:cs typeface="+mj-cs"/>
      </a:defRPr>
    </a:lvl7pPr>
    <a:lvl8pPr marL="4636578" algn="l" defTabSz="132474" rtl="0" eaLnBrk="1" latinLnBrk="1" hangingPunct="1">
      <a:defRPr sz="1739" kern="1200">
        <a:solidFill>
          <a:schemeClr val="tx1"/>
        </a:solidFill>
        <a:latin typeface="+mj-lt"/>
        <a:ea typeface="+mj-ea"/>
        <a:cs typeface="+mj-cs"/>
      </a:defRPr>
    </a:lvl8pPr>
    <a:lvl9pPr marL="5298944" algn="l" defTabSz="132474" rtl="0" eaLnBrk="1" latinLnBrk="1" hangingPunct="1">
      <a:defRPr sz="1739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09F4262C-968C-4EE9-8164-CE16364706B3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66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60694" y="3164539"/>
            <a:ext cx="10887869" cy="21835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21389" y="5772566"/>
            <a:ext cx="8966480" cy="26033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1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1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2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2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3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3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1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1843" y="6546016"/>
            <a:ext cx="10887869" cy="2023228"/>
          </a:xfrm>
        </p:spPr>
        <p:txBody>
          <a:bodyPr anchor="t"/>
          <a:lstStyle>
            <a:lvl1pPr>
              <a:defRPr sz="5603" b="1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446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892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1337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1783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2229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2675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3120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3566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40463" y="2376941"/>
            <a:ext cx="5657422" cy="6722870"/>
          </a:xfrm>
        </p:spPr>
        <p:txBody>
          <a:bodyPr/>
          <a:lstStyle>
            <a:lvl1pPr>
              <a:defRPr sz="3922"/>
            </a:lvl1pPr>
            <a:lvl2pPr>
              <a:defRPr sz="3362"/>
            </a:lvl2pPr>
            <a:lvl3pPr>
              <a:defRPr sz="2802"/>
            </a:lvl3pPr>
            <a:lvl4pPr>
              <a:defRPr sz="2521"/>
            </a:lvl4pPr>
            <a:lvl5pPr>
              <a:defRPr sz="2521"/>
            </a:lvl5pPr>
            <a:lvl6pPr>
              <a:defRPr sz="2521"/>
            </a:lvl6pPr>
            <a:lvl7pPr>
              <a:defRPr sz="2521"/>
            </a:lvl7pPr>
            <a:lvl8pPr>
              <a:defRPr sz="2521"/>
            </a:lvl8pPr>
            <a:lvl9pPr>
              <a:defRPr sz="252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11372" y="2376941"/>
            <a:ext cx="5657422" cy="6722870"/>
          </a:xfrm>
        </p:spPr>
        <p:txBody>
          <a:bodyPr/>
          <a:lstStyle>
            <a:lvl1pPr>
              <a:defRPr sz="3922"/>
            </a:lvl1pPr>
            <a:lvl2pPr>
              <a:defRPr sz="3362"/>
            </a:lvl2pPr>
            <a:lvl3pPr>
              <a:defRPr sz="2802"/>
            </a:lvl3pPr>
            <a:lvl4pPr>
              <a:defRPr sz="2521"/>
            </a:lvl4pPr>
            <a:lvl5pPr>
              <a:defRPr sz="2521"/>
            </a:lvl5pPr>
            <a:lvl6pPr>
              <a:defRPr sz="2521"/>
            </a:lvl6pPr>
            <a:lvl7pPr>
              <a:defRPr sz="2521"/>
            </a:lvl7pPr>
            <a:lvl8pPr>
              <a:defRPr sz="2521"/>
            </a:lvl8pPr>
            <a:lvl9pPr>
              <a:defRPr sz="252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"/>
          </p:nvPr>
        </p:nvSpPr>
        <p:spPr>
          <a:xfrm>
            <a:off x="638821" y="2440609"/>
            <a:ext cx="11528331" cy="67217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13780" y="9987674"/>
            <a:ext cx="13371713" cy="13706365"/>
          </a:xfrm>
        </p:spPr>
        <p:txBody>
          <a:bodyPr/>
          <a:lstStyle>
            <a:lvl1pPr>
              <a:defRPr sz="3922"/>
            </a:lvl1pPr>
            <a:lvl2pPr>
              <a:defRPr sz="3362"/>
            </a:lvl2pPr>
            <a:lvl3pPr>
              <a:defRPr sz="2802"/>
            </a:lvl3pPr>
            <a:lvl4pPr>
              <a:defRPr sz="2521"/>
            </a:lvl4pPr>
            <a:lvl5pPr>
              <a:defRPr sz="2521"/>
            </a:lvl5pPr>
            <a:lvl6pPr>
              <a:defRPr sz="2521"/>
            </a:lvl6pPr>
            <a:lvl7pPr>
              <a:defRPr sz="2521"/>
            </a:lvl7pPr>
            <a:lvl8pPr>
              <a:defRPr sz="2521"/>
            </a:lvl8pPr>
            <a:lvl9pPr>
              <a:defRPr sz="252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390084" y="9987674"/>
            <a:ext cx="13371713" cy="13706365"/>
          </a:xfrm>
        </p:spPr>
        <p:txBody>
          <a:bodyPr/>
          <a:lstStyle>
            <a:lvl1pPr>
              <a:defRPr sz="3922"/>
            </a:lvl1pPr>
            <a:lvl2pPr>
              <a:defRPr sz="3362"/>
            </a:lvl2pPr>
            <a:lvl3pPr>
              <a:defRPr sz="2802"/>
            </a:lvl3pPr>
            <a:lvl4pPr>
              <a:defRPr sz="2521"/>
            </a:lvl4pPr>
            <a:lvl5pPr>
              <a:defRPr sz="2521"/>
            </a:lvl5pPr>
            <a:lvl6pPr>
              <a:defRPr sz="2521"/>
            </a:lvl6pPr>
            <a:lvl7pPr>
              <a:defRPr sz="2521"/>
            </a:lvl7pPr>
            <a:lvl8pPr>
              <a:defRPr sz="2521"/>
            </a:lvl8pPr>
            <a:lvl9pPr>
              <a:defRPr sz="252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1509898" y="24867568"/>
            <a:ext cx="13371713" cy="13706365"/>
          </a:xfrm>
        </p:spPr>
        <p:txBody>
          <a:bodyPr/>
          <a:lstStyle>
            <a:lvl1pPr>
              <a:defRPr sz="3922"/>
            </a:lvl1pPr>
            <a:lvl2pPr>
              <a:defRPr sz="3362"/>
            </a:lvl2pPr>
            <a:lvl3pPr>
              <a:defRPr sz="2802"/>
            </a:lvl3pPr>
            <a:lvl4pPr>
              <a:defRPr sz="2521"/>
            </a:lvl4pPr>
            <a:lvl5pPr>
              <a:defRPr sz="2521"/>
            </a:lvl5pPr>
            <a:lvl6pPr>
              <a:defRPr sz="2521"/>
            </a:lvl6pPr>
            <a:lvl7pPr>
              <a:defRPr sz="2521"/>
            </a:lvl7pPr>
            <a:lvl8pPr>
              <a:defRPr sz="2521"/>
            </a:lvl8pPr>
            <a:lvl9pPr>
              <a:defRPr sz="252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15386204" y="24867568"/>
            <a:ext cx="13371713" cy="13706365"/>
          </a:xfrm>
        </p:spPr>
        <p:txBody>
          <a:bodyPr/>
          <a:lstStyle>
            <a:lvl1pPr>
              <a:defRPr sz="3922"/>
            </a:lvl1pPr>
            <a:lvl2pPr>
              <a:defRPr sz="3362"/>
            </a:lvl2pPr>
            <a:lvl3pPr>
              <a:defRPr sz="2802"/>
            </a:lvl3pPr>
            <a:lvl4pPr>
              <a:defRPr sz="2521"/>
            </a:lvl4pPr>
            <a:lvl5pPr>
              <a:defRPr sz="2521"/>
            </a:lvl5pPr>
            <a:lvl6pPr>
              <a:defRPr sz="2521"/>
            </a:lvl6pPr>
            <a:lvl7pPr>
              <a:defRPr sz="2521"/>
            </a:lvl7pPr>
            <a:lvl8pPr>
              <a:defRPr sz="2521"/>
            </a:lvl8pPr>
            <a:lvl9pPr>
              <a:defRPr sz="252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8D7A7C4-C82A-4D21-9AB0-F0C5A1D3EF09}" type="datetime1">
              <a:rPr lang="ko-KR" altLang="en-US" smtClean="0"/>
              <a:pPr lvl="0"/>
              <a:t>2026-09-25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0704" y="7130818"/>
            <a:ext cx="7685554" cy="841833"/>
          </a:xfrm>
        </p:spPr>
        <p:txBody>
          <a:bodyPr anchor="b"/>
          <a:lstStyle>
            <a:lvl1pPr algn="l">
              <a:defRPr sz="2802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510704" y="910217"/>
            <a:ext cx="7685554" cy="611212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510704" y="7972651"/>
            <a:ext cx="7685554" cy="1195543"/>
          </a:xfrm>
        </p:spPr>
        <p:txBody>
          <a:bodyPr/>
          <a:lstStyle>
            <a:lvl1pPr>
              <a:defRPr sz="1977"/>
            </a:lvl1pPr>
            <a:lvl2pPr>
              <a:defRPr sz="1681"/>
            </a:lvl2pPr>
            <a:lvl3pPr>
              <a:defRPr sz="1401"/>
            </a:lvl3pPr>
            <a:lvl4pPr>
              <a:defRPr sz="1261"/>
            </a:lvl4pPr>
            <a:lvl5pPr>
              <a:defRPr sz="1261"/>
            </a:lvl5pPr>
            <a:lvl6pPr>
              <a:defRPr sz="1261"/>
            </a:lvl6pPr>
            <a:lvl7pPr>
              <a:defRPr sz="1261"/>
            </a:lvl7pPr>
            <a:lvl8pPr>
              <a:defRPr sz="1261"/>
            </a:lvl8pPr>
            <a:lvl9pPr>
              <a:defRPr sz="12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0" name="날짜 개체 틀 4"/>
          <p:cNvSpPr>
            <a:spLocks noGrp="1"/>
          </p:cNvSpPr>
          <p:nvPr>
            <p:ph type="dt" sz="half" idx="10"/>
          </p:nvPr>
        </p:nvSpPr>
        <p:spPr>
          <a:xfrm>
            <a:off x="640464" y="9441733"/>
            <a:ext cx="2988827" cy="542357"/>
          </a:xfrm>
        </p:spPr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11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76496" y="9441733"/>
            <a:ext cx="4056265" cy="542357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179967" y="9441733"/>
            <a:ext cx="2988827" cy="542357"/>
          </a:xfrm>
        </p:spPr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12938" y="3164539"/>
            <a:ext cx="12809257" cy="21835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40464" y="9441733"/>
            <a:ext cx="2988827" cy="542357"/>
          </a:xfrm>
        </p:spPr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376496" y="9441733"/>
            <a:ext cx="4056265" cy="542357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179967" y="9441733"/>
            <a:ext cx="2988827" cy="542357"/>
          </a:xfrm>
        </p:spPr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463" y="407948"/>
            <a:ext cx="11528331" cy="1697813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"/>
          </p:nvPr>
        </p:nvSpPr>
        <p:spPr>
          <a:xfrm>
            <a:off x="3004084" y="3262076"/>
            <a:ext cx="6803027" cy="481269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362"/>
            </a:lvl1pPr>
            <a:lvl2pPr>
              <a:defRPr sz="2802"/>
            </a:lvl2pPr>
            <a:lvl3pPr>
              <a:defRPr sz="2521"/>
            </a:lvl3pPr>
            <a:lvl4pPr>
              <a:defRPr sz="2241"/>
            </a:lvl4pPr>
            <a:lvl5pPr>
              <a:defRPr sz="2241"/>
            </a:lvl5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286711" y="407948"/>
            <a:ext cx="2882083" cy="86918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본문 개체 틀 2"/>
          <p:cNvSpPr>
            <a:spLocks noGrp="1"/>
          </p:cNvSpPr>
          <p:nvPr>
            <p:ph type="body" orient="vert" idx="1"/>
          </p:nvPr>
        </p:nvSpPr>
        <p:spPr>
          <a:xfrm>
            <a:off x="640463" y="407948"/>
            <a:ext cx="8432761" cy="86918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 smtClean="0"/>
              <a:pPr/>
              <a:t>2026-09-25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78" y="1714158"/>
            <a:ext cx="27248019" cy="71340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78" y="9987670"/>
            <a:ext cx="27248019" cy="2824886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82" y="40506897"/>
            <a:ext cx="7064301" cy="227893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6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422D86A-5F52-4165-8473-F1B836277586}" type="datetime1">
              <a:rPr lang="ko-KR" altLang="en-US"/>
              <a:pPr lvl="0">
                <a:defRPr lang="ko-KR" altLang="en-US"/>
              </a:pPr>
              <a:t>2026-09-25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158" y="40524831"/>
            <a:ext cx="9587265" cy="227893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6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500" y="40506897"/>
            <a:ext cx="7064301" cy="227893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6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1026" name="직선 연결선 1025"/>
          <p:cNvCxnSpPr/>
          <p:nvPr/>
        </p:nvCxnSpPr>
        <p:spPr>
          <a:xfrm>
            <a:off x="0" y="4200426"/>
            <a:ext cx="30275576" cy="2405"/>
          </a:xfrm>
          <a:prstGeom prst="line">
            <a:avLst/>
          </a:prstGeom>
          <a:ln w="127024" cap="flat" cmpd="sng" algn="ctr">
            <a:solidFill>
              <a:srgbClr val="953735"/>
            </a:solidFill>
            <a:prstDash val="solid"/>
            <a:round/>
          </a:ln>
        </p:spPr>
      </p:cxnSp>
      <p:cxnSp>
        <p:nvCxnSpPr>
          <p:cNvPr id="1027" name="직선 연결선 1026"/>
          <p:cNvCxnSpPr/>
          <p:nvPr/>
        </p:nvCxnSpPr>
        <p:spPr>
          <a:xfrm>
            <a:off x="0" y="4327992"/>
            <a:ext cx="30275576" cy="2405"/>
          </a:xfrm>
          <a:prstGeom prst="line">
            <a:avLst/>
          </a:prstGeom>
          <a:ln w="127024" cap="flat" cmpd="sng" algn="ctr">
            <a:solidFill>
              <a:srgbClr val="BFBFBF"/>
            </a:solidFill>
            <a:prstDash val="solid"/>
            <a:round/>
          </a:ln>
        </p:spPr>
      </p:cxnSp>
      <p:cxnSp>
        <p:nvCxnSpPr>
          <p:cNvPr id="1028" name="직선 연결선 1027"/>
          <p:cNvCxnSpPr/>
          <p:nvPr/>
        </p:nvCxnSpPr>
        <p:spPr>
          <a:xfrm>
            <a:off x="0" y="40657923"/>
            <a:ext cx="30275576" cy="0"/>
          </a:xfrm>
          <a:prstGeom prst="line">
            <a:avLst/>
          </a:prstGeom>
          <a:ln w="127024" cap="flat" cmpd="sng" algn="ctr">
            <a:solidFill>
              <a:srgbClr val="7F7F7F"/>
            </a:solidFill>
            <a:prstDash val="solid"/>
            <a:round/>
          </a:ln>
        </p:spPr>
      </p:cxnSp>
      <p:cxnSp>
        <p:nvCxnSpPr>
          <p:cNvPr id="1029" name="직선 연결선 1028"/>
          <p:cNvCxnSpPr/>
          <p:nvPr/>
        </p:nvCxnSpPr>
        <p:spPr>
          <a:xfrm>
            <a:off x="0" y="40506897"/>
            <a:ext cx="30275576" cy="2405"/>
          </a:xfrm>
          <a:prstGeom prst="line">
            <a:avLst/>
          </a:prstGeom>
          <a:ln w="127024" cap="flat" cmpd="sng" algn="ctr">
            <a:solidFill>
              <a:srgbClr val="953735"/>
            </a:solidFill>
            <a:prstDash val="solid"/>
            <a:round/>
          </a:ln>
        </p:spPr>
      </p:cxnSp>
      <p:cxnSp>
        <p:nvCxnSpPr>
          <p:cNvPr id="1030" name="직선 연결선 1029"/>
          <p:cNvCxnSpPr/>
          <p:nvPr/>
        </p:nvCxnSpPr>
        <p:spPr>
          <a:xfrm>
            <a:off x="15135597" y="4558587"/>
            <a:ext cx="0" cy="35363296"/>
          </a:xfrm>
          <a:prstGeom prst="line">
            <a:avLst/>
          </a:prstGeom>
          <a:ln w="127024" cap="flat" cmpd="sng" algn="ctr">
            <a:solidFill>
              <a:srgbClr val="953735"/>
            </a:solidFill>
            <a:prstDash val="solid"/>
            <a:round/>
          </a:ln>
        </p:spPr>
      </p:cxnSp>
      <p:sp>
        <p:nvSpPr>
          <p:cNvPr id="1031" name="직사각형 1030"/>
          <p:cNvSpPr/>
          <p:nvPr/>
        </p:nvSpPr>
        <p:spPr>
          <a:xfrm>
            <a:off x="0" y="0"/>
            <a:ext cx="30275576" cy="42804304"/>
          </a:xfrm>
          <a:prstGeom prst="rect">
            <a:avLst/>
          </a:prstGeom>
          <a:noFill/>
          <a:ln w="254105" cap="flat" cmpd="sng" algn="ctr">
            <a:solidFill>
              <a:srgbClr val="953735"/>
            </a:solidFill>
            <a:prstDash val="solid"/>
            <a:round/>
          </a:ln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ransition/>
  <p:txStyles>
    <p:titleStyle>
      <a:lvl1pPr algn="ctr" defTabSz="1280892" rtl="0" eaLnBrk="1" latinLnBrk="1" hangingPunct="1">
        <a:spcBef>
          <a:spcPct val="0"/>
        </a:spcBef>
        <a:buNone/>
        <a:defRPr sz="6164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480334" indent="-480334" algn="l" defTabSz="1280892" rtl="0" eaLnBrk="1" latinLnBrk="1" hangingPunct="1">
        <a:spcBef>
          <a:spcPct val="20000"/>
        </a:spcBef>
        <a:buFont typeface="Arial"/>
        <a:buChar char="•"/>
        <a:defRPr sz="4483" kern="1200">
          <a:solidFill>
            <a:schemeClr val="tx1"/>
          </a:solidFill>
          <a:latin typeface="+mn-lt"/>
          <a:ea typeface="+mn-ea"/>
          <a:cs typeface="+mn-cs"/>
        </a:defRPr>
      </a:lvl1pPr>
      <a:lvl2pPr marL="1040724" indent="-400279" algn="l" defTabSz="1280892" rtl="0" eaLnBrk="1" latinLnBrk="1" hangingPunct="1">
        <a:spcBef>
          <a:spcPct val="20000"/>
        </a:spcBef>
        <a:buFont typeface="Arial"/>
        <a:buChar char="–"/>
        <a:defRPr sz="3922" kern="1200">
          <a:solidFill>
            <a:schemeClr val="tx1"/>
          </a:solidFill>
          <a:latin typeface="+mn-lt"/>
          <a:ea typeface="+mn-ea"/>
          <a:cs typeface="+mn-cs"/>
        </a:defRPr>
      </a:lvl2pPr>
      <a:lvl3pPr marL="1601114" indent="-320223" algn="l" defTabSz="1280892" rtl="0" eaLnBrk="1" latinLnBrk="1" hangingPunct="1">
        <a:spcBef>
          <a:spcPct val="20000"/>
        </a:spcBef>
        <a:buFont typeface="Arial"/>
        <a:buChar char="•"/>
        <a:defRPr sz="3362" kern="1200">
          <a:solidFill>
            <a:schemeClr val="tx1"/>
          </a:solidFill>
          <a:latin typeface="+mn-lt"/>
          <a:ea typeface="+mn-ea"/>
          <a:cs typeface="+mn-cs"/>
        </a:defRPr>
      </a:lvl3pPr>
      <a:lvl4pPr marL="2241560" indent="-320223" algn="l" defTabSz="1280892" rtl="0" eaLnBrk="1" latinLnBrk="1" hangingPunct="1">
        <a:spcBef>
          <a:spcPct val="20000"/>
        </a:spcBef>
        <a:buFont typeface="Arial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</a:defRPr>
      </a:lvl4pPr>
      <a:lvl5pPr marL="2882006" indent="-320223" algn="l" defTabSz="1280892" rtl="0" eaLnBrk="1" latinLnBrk="1" hangingPunct="1">
        <a:spcBef>
          <a:spcPct val="20000"/>
        </a:spcBef>
        <a:buFont typeface="Arial"/>
        <a:buChar char="»"/>
        <a:defRPr sz="2802" kern="1200">
          <a:solidFill>
            <a:schemeClr val="tx1"/>
          </a:solidFill>
          <a:latin typeface="+mn-lt"/>
          <a:ea typeface="+mn-ea"/>
          <a:cs typeface="+mn-cs"/>
        </a:defRPr>
      </a:lvl5pPr>
      <a:lvl6pPr marL="3522452" indent="-320223" algn="l" defTabSz="1280892" rtl="0" eaLnBrk="1" latinLnBrk="1" hangingPunct="1">
        <a:spcBef>
          <a:spcPct val="20000"/>
        </a:spcBef>
        <a:buFont typeface="Arial"/>
        <a:buChar char="•"/>
        <a:defRPr sz="2802" kern="1200">
          <a:solidFill>
            <a:schemeClr val="tx1"/>
          </a:solidFill>
          <a:latin typeface="+mn-lt"/>
          <a:ea typeface="+mn-ea"/>
          <a:cs typeface="+mn-cs"/>
        </a:defRPr>
      </a:lvl6pPr>
      <a:lvl7pPr marL="4162897" indent="-320223" algn="l" defTabSz="1280892" rtl="0" eaLnBrk="1" latinLnBrk="1" hangingPunct="1">
        <a:spcBef>
          <a:spcPct val="20000"/>
        </a:spcBef>
        <a:buFont typeface="Arial"/>
        <a:buChar char="•"/>
        <a:defRPr sz="2802" kern="1200">
          <a:solidFill>
            <a:schemeClr val="tx1"/>
          </a:solidFill>
          <a:latin typeface="+mn-lt"/>
          <a:ea typeface="+mn-ea"/>
          <a:cs typeface="+mn-cs"/>
        </a:defRPr>
      </a:lvl7pPr>
      <a:lvl8pPr marL="4803343" indent="-320223" algn="l" defTabSz="1280892" rtl="0" eaLnBrk="1" latinLnBrk="1" hangingPunct="1">
        <a:spcBef>
          <a:spcPct val="20000"/>
        </a:spcBef>
        <a:buFont typeface="Arial"/>
        <a:buChar char="•"/>
        <a:defRPr sz="2802" kern="1200">
          <a:solidFill>
            <a:schemeClr val="tx1"/>
          </a:solidFill>
          <a:latin typeface="+mn-lt"/>
          <a:ea typeface="+mn-ea"/>
          <a:cs typeface="+mn-cs"/>
        </a:defRPr>
      </a:lvl8pPr>
      <a:lvl9pPr marL="5443789" indent="-320223" algn="l" defTabSz="1280892" rtl="0" eaLnBrk="1" latinLnBrk="1" hangingPunct="1">
        <a:spcBef>
          <a:spcPct val="20000"/>
        </a:spcBef>
        <a:buFont typeface="Arial"/>
        <a:buChar char="•"/>
        <a:defRPr sz="28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80892" rtl="0" eaLnBrk="1" latinLnBrk="1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1pPr>
      <a:lvl2pPr marL="640446" algn="l" defTabSz="1280892" rtl="0" eaLnBrk="1" latinLnBrk="1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2pPr>
      <a:lvl3pPr marL="1280892" algn="l" defTabSz="1280892" rtl="0" eaLnBrk="1" latinLnBrk="1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3pPr>
      <a:lvl4pPr marL="1921337" algn="l" defTabSz="1280892" rtl="0" eaLnBrk="1" latinLnBrk="1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4pPr>
      <a:lvl5pPr marL="2561783" algn="l" defTabSz="1280892" rtl="0" eaLnBrk="1" latinLnBrk="1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5pPr>
      <a:lvl6pPr marL="3202229" algn="l" defTabSz="1280892" rtl="0" eaLnBrk="1" latinLnBrk="1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6pPr>
      <a:lvl7pPr marL="3842675" algn="l" defTabSz="1280892" rtl="0" eaLnBrk="1" latinLnBrk="1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7pPr>
      <a:lvl8pPr marL="4483120" algn="l" defTabSz="1280892" rtl="0" eaLnBrk="1" latinLnBrk="1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8pPr>
      <a:lvl9pPr marL="5123566" algn="l" defTabSz="1280892" rtl="0" eaLnBrk="1" latinLnBrk="1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6145"/>
          <p:cNvSpPr txBox="1"/>
          <p:nvPr/>
        </p:nvSpPr>
        <p:spPr>
          <a:xfrm>
            <a:off x="-92478" y="2117087"/>
            <a:ext cx="30275575" cy="1377536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</a:ln>
        </p:spPr>
        <p:txBody>
          <a:bodyPr vert="horz" wrap="square" lIns="84054" tIns="42027" rIns="84054" bIns="42027" anchor="t">
            <a:spAutoFit/>
          </a:bodyPr>
          <a:lstStyle/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ko-KR" altLang="en-US"/>
            </a:pPr>
            <a:r>
              <a:rPr lang="ko-KR" altLang="en-US" sz="4400" b="1" dirty="0" err="1">
                <a:solidFill>
                  <a:srgbClr val="000000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Wingdings"/>
              </a:rPr>
              <a:t>류대선</a:t>
            </a:r>
            <a:r>
              <a:rPr lang="en-US" altLang="ko-KR" sz="4400" b="1" dirty="0">
                <a:solidFill>
                  <a:srgbClr val="000000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Wingdings"/>
              </a:rPr>
              <a:t>, </a:t>
            </a:r>
            <a:r>
              <a:rPr lang="ko-KR" altLang="en-US" sz="4400" b="1" dirty="0">
                <a:solidFill>
                  <a:srgbClr val="000000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Wingdings"/>
              </a:rPr>
              <a:t>박시온</a:t>
            </a:r>
            <a:r>
              <a:rPr lang="en-US" altLang="ko-KR" sz="4400" b="1" dirty="0">
                <a:solidFill>
                  <a:srgbClr val="000000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Wingdings"/>
              </a:rPr>
              <a:t>, </a:t>
            </a:r>
            <a:r>
              <a:rPr lang="ko-KR" altLang="en-US" sz="4400" b="1" dirty="0" err="1">
                <a:solidFill>
                  <a:srgbClr val="000000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Wingdings"/>
              </a:rPr>
              <a:t>정은택</a:t>
            </a:r>
            <a:r>
              <a:rPr lang="en-US" altLang="ko-KR" sz="4400" b="1" dirty="0">
                <a:solidFill>
                  <a:srgbClr val="000000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Wingdings"/>
              </a:rPr>
              <a:t>,</a:t>
            </a:r>
            <a:r>
              <a:rPr lang="ko-KR" altLang="en-US" sz="4400" b="1" dirty="0">
                <a:solidFill>
                  <a:srgbClr val="000000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Wingdings"/>
              </a:rPr>
              <a:t> 지도교수: 홍상훈</a:t>
            </a:r>
            <a:endParaRPr lang="en-US" altLang="ko-KR" sz="4400" b="1" dirty="0">
              <a:solidFill>
                <a:srgbClr val="000000">
                  <a:alpha val="100000"/>
                </a:srgbClr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Wingdings"/>
            </a:endParaRPr>
          </a:p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ko-KR" altLang="en-US"/>
            </a:pPr>
            <a:r>
              <a:rPr lang="ko-KR" altLang="en-US" sz="4000" dirty="0">
                <a:solidFill>
                  <a:srgbClr val="000000">
                    <a:alpha val="100000"/>
                  </a:srgb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Wingdings"/>
              </a:rPr>
              <a:t>경희대학교 전자정보대학 전자공학과</a:t>
            </a:r>
            <a:endParaRPr lang="en-US" altLang="ko-KR" sz="4000" dirty="0">
              <a:solidFill>
                <a:srgbClr val="000000">
                  <a:alpha val="100000"/>
                </a:srgbClr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Wingdings"/>
            </a:endParaRPr>
          </a:p>
        </p:txBody>
      </p:sp>
      <p:sp>
        <p:nvSpPr>
          <p:cNvPr id="6150" name="사각형: 둥근 모서리 6149"/>
          <p:cNvSpPr/>
          <p:nvPr/>
        </p:nvSpPr>
        <p:spPr>
          <a:xfrm>
            <a:off x="364883" y="4867603"/>
            <a:ext cx="14508188" cy="6158135"/>
          </a:xfrm>
          <a:prstGeom prst="roundRect">
            <a:avLst>
              <a:gd name="adj" fmla="val 3385"/>
            </a:avLst>
          </a:prstGeom>
          <a:noFill/>
          <a:ln w="76214" cap="flat" cmpd="sng" algn="ctr">
            <a:solidFill>
              <a:srgbClr val="595959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6151" name="그림 6150" descr="그림 72"/>
          <p:cNvPicPr/>
          <p:nvPr/>
        </p:nvPicPr>
        <p:blipFill rotWithShape="1">
          <a:blip r:embed="rId3">
            <a:lum/>
          </a:blip>
          <a:stretch>
            <a:fillRect/>
          </a:stretch>
        </p:blipFill>
        <p:spPr>
          <a:xfrm>
            <a:off x="23646197" y="40823079"/>
            <a:ext cx="6378678" cy="1849869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</a:ln>
        </p:spPr>
      </p:pic>
      <p:sp>
        <p:nvSpPr>
          <p:cNvPr id="6152" name="직사각형 6151"/>
          <p:cNvSpPr/>
          <p:nvPr/>
        </p:nvSpPr>
        <p:spPr>
          <a:xfrm>
            <a:off x="7" y="782435"/>
            <a:ext cx="169102" cy="129251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53" name="직사각형 6152"/>
          <p:cNvSpPr/>
          <p:nvPr/>
        </p:nvSpPr>
        <p:spPr>
          <a:xfrm>
            <a:off x="7" y="782435"/>
            <a:ext cx="169102" cy="129251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55" name="사각형: 둥근 모서리 6154"/>
          <p:cNvSpPr>
            <a:spLocks/>
          </p:cNvSpPr>
          <p:nvPr/>
        </p:nvSpPr>
        <p:spPr>
          <a:xfrm>
            <a:off x="364884" y="21035657"/>
            <a:ext cx="14459076" cy="19267296"/>
          </a:xfrm>
          <a:prstGeom prst="roundRect">
            <a:avLst>
              <a:gd name="adj" fmla="val 3385"/>
            </a:avLst>
          </a:prstGeom>
          <a:noFill/>
          <a:ln w="76214" cap="flat" cmpd="sng" algn="ctr">
            <a:solidFill>
              <a:srgbClr val="595959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156" name="TextBox 6155"/>
          <p:cNvSpPr txBox="1"/>
          <p:nvPr/>
        </p:nvSpPr>
        <p:spPr>
          <a:xfrm>
            <a:off x="979138" y="442664"/>
            <a:ext cx="28539195" cy="136350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</a:ln>
        </p:spPr>
        <p:txBody>
          <a:bodyPr vert="horz" wrap="square" lIns="126075" tIns="65559" rIns="126075" bIns="65559" anchor="t">
            <a:spAutoFit/>
          </a:bodyPr>
          <a:lstStyle/>
          <a:p>
            <a:pPr algn="ctr" fontAlgn="base" latinLnBrk="0"/>
            <a:r>
              <a:rPr lang="ko-KR" altLang="en-US" sz="8000" b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이벤트 기반 저전력 비행물체 </a:t>
            </a:r>
            <a:r>
              <a:rPr lang="ko-KR" altLang="en-US" sz="8000" b="1" dirty="0" err="1">
                <a:latin typeface="Microsoft Sans Serif" panose="020B0604020202020204" pitchFamily="34" charset="0"/>
                <a:cs typeface="Microsoft Sans Serif" panose="020B0604020202020204" pitchFamily="34" charset="0"/>
              </a:rPr>
              <a:t>탐지·추적</a:t>
            </a:r>
            <a:r>
              <a:rPr lang="ko-KR" altLang="en-US" sz="8000" b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시스템</a:t>
            </a:r>
            <a:endParaRPr lang="ko-KR" altLang="en-US" sz="8000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A11039B-083B-47B1-8C3A-33E9DE3FA562}"/>
              </a:ext>
            </a:extLst>
          </p:cNvPr>
          <p:cNvSpPr/>
          <p:nvPr/>
        </p:nvSpPr>
        <p:spPr>
          <a:xfrm>
            <a:off x="842317" y="4633210"/>
            <a:ext cx="5891331" cy="1010121"/>
          </a:xfrm>
          <a:prstGeom prst="roundRect">
            <a:avLst/>
          </a:prstGeom>
          <a:solidFill>
            <a:srgbClr val="95373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603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INTRODUCTION</a:t>
            </a:r>
            <a:endParaRPr lang="ko-KR" altLang="en-US" sz="5603" i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8AB7B-47DA-4E43-9466-700D23F3CB05}"/>
              </a:ext>
            </a:extLst>
          </p:cNvPr>
          <p:cNvSpPr txBox="1"/>
          <p:nvPr/>
        </p:nvSpPr>
        <p:spPr>
          <a:xfrm>
            <a:off x="580732" y="5643331"/>
            <a:ext cx="14099590" cy="5412001"/>
          </a:xfrm>
          <a:prstGeom prst="rect">
            <a:avLst/>
          </a:prstGeom>
        </p:spPr>
        <p:txBody>
          <a:bodyPr wrap="square" rtlCol="0" anchor="t"/>
          <a:lstStyle/>
          <a:p>
            <a:pPr lvl="0" algn="just">
              <a:spcAft>
                <a:spcPts val="500"/>
              </a:spcAft>
              <a:buNone/>
            </a:pP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[배경]</a:t>
            </a:r>
          </a:p>
          <a:p>
            <a:pPr marL="285750" lvl="0" indent="-285750" algn="just">
              <a:spcAft>
                <a:spcPts val="450"/>
              </a:spcAft>
              <a:buFont typeface="Arial"/>
              <a:buChar char="•"/>
            </a:pP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드론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위협 급증 </a:t>
            </a:r>
            <a:r>
              <a:rPr lang="ko-KR" altLang="ko-KR" sz="2200" dirty="0"/>
              <a:t>→</a:t>
            </a:r>
            <a:r>
              <a:rPr lang="en-US" altLang="ko-KR" sz="2200" dirty="0"/>
              <a:t> </a:t>
            </a:r>
            <a:r>
              <a:rPr lang="ko-KR" altLang="ko-KR" sz="2200" dirty="0" err="1"/>
              <a:t>군사시설·공항·발전소</a:t>
            </a:r>
            <a:r>
              <a:rPr lang="ko-KR" altLang="ko-KR" sz="2200" dirty="0"/>
              <a:t> 등 보호구역 무허가 침입 증가</a:t>
            </a:r>
            <a:endParaRPr lang="en-US" altLang="ko-KR" sz="2200" dirty="0"/>
          </a:p>
          <a:p>
            <a:pPr marL="285750" lvl="0" indent="-285750" algn="just">
              <a:spcAft>
                <a:spcPts val="450"/>
              </a:spcAft>
              <a:buFont typeface="Arial"/>
              <a:buChar char="•"/>
            </a:pPr>
            <a:r>
              <a:rPr lang="ko-KR" altLang="ko-KR" sz="2200" dirty="0" err="1"/>
              <a:t>저고도·소형·저속</a:t>
            </a:r>
            <a:r>
              <a:rPr lang="en-US" altLang="ko-KR" sz="2200" dirty="0"/>
              <a:t> </a:t>
            </a:r>
            <a:r>
              <a:rPr lang="ko-KR" altLang="en-US" sz="2200" dirty="0"/>
              <a:t>표적은 기존 레이더로 탐지 곤란</a:t>
            </a:r>
            <a:endParaRPr lang="en-US" altLang="ko-KR" sz="2200" dirty="0"/>
          </a:p>
          <a:p>
            <a:pPr marL="285750" lvl="0" indent="-285750" algn="just">
              <a:spcAft>
                <a:spcPts val="450"/>
              </a:spcAft>
              <a:buFont typeface="Arial"/>
              <a:buChar char="•"/>
            </a:pPr>
            <a:r>
              <a:rPr lang="ko-KR" altLang="ko-KR" sz="2200" dirty="0" err="1"/>
              <a:t>광학·영상</a:t>
            </a:r>
            <a:r>
              <a:rPr lang="ko-KR" altLang="ko-KR" sz="2200" dirty="0"/>
              <a:t> 기반 실시간 </a:t>
            </a:r>
            <a:r>
              <a:rPr lang="ko-KR" altLang="ko-KR" sz="2200" dirty="0" err="1"/>
              <a:t>탐지·추적이</a:t>
            </a:r>
            <a:r>
              <a:rPr lang="ko-KR" altLang="ko-KR" sz="2200" dirty="0"/>
              <a:t> </a:t>
            </a:r>
            <a:r>
              <a:rPr lang="ko-KR" altLang="en-US" sz="2200" dirty="0" err="1"/>
              <a:t>안티드론의</a:t>
            </a:r>
            <a:r>
              <a:rPr lang="ko-KR" altLang="ko-KR" sz="2200" dirty="0"/>
              <a:t> 핵심 보완 기술로 부상</a:t>
            </a:r>
            <a:endParaRPr lang="en-US" altLang="ko-KR" sz="2200" dirty="0">
              <a:solidFill>
                <a:srgbClr val="9537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Aft>
                <a:spcPts val="500"/>
              </a:spcAft>
              <a:buNone/>
            </a:pP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[문제점]</a:t>
            </a:r>
            <a:endParaRPr lang="en-US" altLang="ko-KR" sz="2400" dirty="0">
              <a:solidFill>
                <a:srgbClr val="9537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marL="285750" lvl="0" indent="-285750" algn="just">
              <a:spcAft>
                <a:spcPts val="450"/>
              </a:spcAft>
              <a:buFont typeface="Arial"/>
              <a:buChar char="•"/>
            </a:pPr>
            <a:r>
              <a:rPr lang="ko-KR" altLang="ko-KR" sz="2200" dirty="0"/>
              <a:t>상시 영상 감시 → 넓은 </a:t>
            </a:r>
            <a:r>
              <a:rPr lang="ko-KR" altLang="ko-KR" sz="2200" dirty="0" err="1"/>
              <a:t>화각</a:t>
            </a:r>
            <a:r>
              <a:rPr lang="ko-KR" altLang="ko-KR" sz="2200" dirty="0"/>
              <a:t> 연속 처리로 </a:t>
            </a:r>
            <a:r>
              <a:rPr lang="ko-KR" altLang="ko-KR" sz="2200" dirty="0" err="1"/>
              <a:t>연산량·전력</a:t>
            </a:r>
            <a:r>
              <a:rPr lang="ko-KR" altLang="ko-KR" sz="2200" dirty="0"/>
              <a:t> 부담</a:t>
            </a:r>
            <a:r>
              <a:rPr lang="en-US" altLang="ko-KR" sz="2200" dirty="0"/>
              <a:t> </a:t>
            </a:r>
            <a:r>
              <a:rPr lang="ko-KR" altLang="en-US" sz="2200" dirty="0"/>
              <a:t>큼</a:t>
            </a:r>
            <a:endParaRPr lang="en-US" altLang="ko-KR" sz="2200" dirty="0"/>
          </a:p>
          <a:p>
            <a:pPr marL="285750" lvl="0" indent="-285750" algn="just">
              <a:spcAft>
                <a:spcPts val="450"/>
              </a:spcAft>
              <a:buFont typeface="Arial"/>
              <a:buChar char="•"/>
            </a:pPr>
            <a:r>
              <a:rPr lang="ko-KR" altLang="ko-KR" sz="2200" dirty="0"/>
              <a:t>GPU 서버 의존 구조 → </a:t>
            </a:r>
            <a:r>
              <a:rPr lang="ko-KR" altLang="ko-KR" sz="2200" dirty="0" err="1"/>
              <a:t>야전·초소</a:t>
            </a:r>
            <a:r>
              <a:rPr lang="ko-KR" altLang="ko-KR" sz="2200" dirty="0"/>
              <a:t> 등 </a:t>
            </a:r>
            <a:r>
              <a:rPr lang="ko-KR" altLang="ko-KR" sz="2200" dirty="0" err="1"/>
              <a:t>엣지</a:t>
            </a:r>
            <a:r>
              <a:rPr lang="ko-KR" altLang="ko-KR" sz="2200" dirty="0"/>
              <a:t> 환경 부적합</a:t>
            </a:r>
            <a:endParaRPr lang="en-US" altLang="ko-KR" sz="2200" dirty="0"/>
          </a:p>
          <a:p>
            <a:pPr marL="285750" lvl="0" indent="-285750" algn="just">
              <a:spcAft>
                <a:spcPts val="450"/>
              </a:spcAft>
              <a:buFont typeface="Arial"/>
              <a:buChar char="•"/>
            </a:pPr>
            <a:r>
              <a:rPr lang="ko-KR" altLang="en-US" sz="2200" dirty="0"/>
              <a:t>평시에는 추적 대상 없음</a:t>
            </a:r>
            <a:r>
              <a:rPr lang="ko-KR" altLang="ko-KR" sz="2200" dirty="0"/>
              <a:t> → 고비용 CNN 상시 구동은 비효율</a:t>
            </a:r>
            <a:r>
              <a:rPr lang="ko-KR" altLang="en-US" sz="2200" dirty="0"/>
              <a:t>적임</a:t>
            </a:r>
            <a:endParaRPr lang="ko-KR" altLang="en-US" sz="2200" dirty="0">
              <a:solidFill>
                <a:srgbClr val="9537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Aft>
                <a:spcPts val="500"/>
              </a:spcAft>
              <a:buNone/>
            </a:pP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[제안] </a:t>
            </a:r>
            <a:endParaRPr lang="en-US" altLang="ko-KR" sz="2400" dirty="0">
              <a:solidFill>
                <a:srgbClr val="9537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Aft>
                <a:spcPts val="500"/>
              </a:spcAft>
              <a:buNone/>
            </a:pPr>
            <a:r>
              <a:rPr lang="en-US" altLang="ko-KR" sz="2200" dirty="0"/>
              <a:t>SNN – CNN </a:t>
            </a:r>
            <a:r>
              <a:rPr lang="ko-KR" altLang="ko-KR" sz="2200" dirty="0"/>
              <a:t>2단 </a:t>
            </a:r>
            <a:r>
              <a:rPr lang="ko-KR" altLang="ko-KR" sz="2200" dirty="0" err="1"/>
              <a:t>캐스케이드</a:t>
            </a:r>
            <a:r>
              <a:rPr lang="ko-KR" altLang="ko-KR" sz="2200" dirty="0"/>
              <a:t> 구조</a:t>
            </a:r>
            <a:r>
              <a:rPr lang="en-US" altLang="ko-KR" sz="2200" dirty="0"/>
              <a:t> </a:t>
            </a:r>
            <a:r>
              <a:rPr lang="ko-KR" altLang="en-US" sz="2200" dirty="0"/>
              <a:t>및 모터 제어 로직을</a:t>
            </a:r>
            <a:r>
              <a:rPr lang="ko-KR" altLang="ko-KR" sz="2200" dirty="0"/>
              <a:t> 단일 FPGA (</a:t>
            </a:r>
            <a:r>
              <a:rPr lang="ko-KR" altLang="ko-KR" sz="2200" dirty="0" err="1"/>
              <a:t>Zybo</a:t>
            </a:r>
            <a:r>
              <a:rPr lang="ko-KR" altLang="ko-KR" sz="2200" dirty="0"/>
              <a:t> Z7-20)에 구현</a:t>
            </a:r>
            <a:endParaRPr lang="ko-KR" altLang="en-US" sz="2200" dirty="0">
              <a:solidFill>
                <a:srgbClr val="9537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Aft>
                <a:spcPts val="500"/>
              </a:spcAft>
              <a:buNone/>
            </a:pP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[주요 기여]</a:t>
            </a:r>
          </a:p>
          <a:p>
            <a:pPr marL="285750" lvl="0" indent="-285750" algn="just">
              <a:spcAft>
                <a:spcPts val="500"/>
              </a:spcAft>
              <a:buFont typeface="Arial"/>
              <a:buChar char="•"/>
            </a:pPr>
            <a:r>
              <a:rPr lang="ko-KR" altLang="ko-KR" sz="2200" b="1" dirty="0"/>
              <a:t>저전력화</a:t>
            </a:r>
            <a:r>
              <a:rPr lang="ko-KR" altLang="ko-KR" sz="2200" dirty="0"/>
              <a:t>: </a:t>
            </a:r>
            <a:r>
              <a:rPr lang="en-US" altLang="ko-KR" sz="2200" dirty="0"/>
              <a:t>clock gating</a:t>
            </a:r>
            <a:r>
              <a:rPr lang="ko-KR" altLang="en-US" sz="2200" dirty="0"/>
              <a:t>으로 </a:t>
            </a:r>
            <a:r>
              <a:rPr lang="ko-KR" altLang="ko-KR" sz="2200" dirty="0"/>
              <a:t>상시 감시 단계 </a:t>
            </a:r>
            <a:r>
              <a:rPr lang="ko-KR" altLang="ko-KR" sz="2200" dirty="0" err="1"/>
              <a:t>전력·연산</a:t>
            </a:r>
            <a:r>
              <a:rPr lang="ko-KR" altLang="ko-KR" sz="2200" dirty="0"/>
              <a:t> 최소화 </a:t>
            </a:r>
            <a:endParaRPr lang="en-US" altLang="ko-KR" sz="2200" dirty="0"/>
          </a:p>
          <a:p>
            <a:pPr marL="285750" lvl="0" indent="-285750" algn="just">
              <a:spcAft>
                <a:spcPts val="500"/>
              </a:spcAft>
              <a:buFont typeface="Arial"/>
              <a:buChar char="•"/>
            </a:pPr>
            <a:r>
              <a:rPr lang="ko-KR" altLang="ko-KR" sz="2200" b="1" dirty="0"/>
              <a:t>효율화</a:t>
            </a:r>
            <a:r>
              <a:rPr lang="en-US" altLang="ko-KR" sz="2200" b="1" dirty="0"/>
              <a:t>: </a:t>
            </a:r>
            <a:r>
              <a:rPr lang="ko-KR" altLang="ko-KR" sz="2200" dirty="0"/>
              <a:t>이벤트 기반 </a:t>
            </a:r>
            <a:r>
              <a:rPr lang="ko-KR" altLang="en-US" sz="2200" dirty="0"/>
              <a:t>구조로 </a:t>
            </a:r>
            <a:r>
              <a:rPr lang="ko-KR" altLang="ko-KR" sz="2200" dirty="0"/>
              <a:t>CNN 평균 </a:t>
            </a:r>
            <a:r>
              <a:rPr lang="ko-KR" altLang="ko-KR" sz="2200" dirty="0" err="1"/>
              <a:t>구동률</a:t>
            </a:r>
            <a:r>
              <a:rPr lang="ko-KR" altLang="ko-KR" sz="2200" dirty="0"/>
              <a:t> 절감 </a:t>
            </a:r>
            <a:endParaRPr lang="en-US" altLang="ko-KR" sz="2200" dirty="0"/>
          </a:p>
        </p:txBody>
      </p:sp>
      <p:sp>
        <p:nvSpPr>
          <p:cNvPr id="168" name="사각형: 둥근 모서리 6149"/>
          <p:cNvSpPr/>
          <p:nvPr/>
        </p:nvSpPr>
        <p:spPr>
          <a:xfrm>
            <a:off x="364883" y="11644626"/>
            <a:ext cx="14508188" cy="8842687"/>
          </a:xfrm>
          <a:prstGeom prst="roundRect">
            <a:avLst>
              <a:gd name="adj" fmla="val 3385"/>
            </a:avLst>
          </a:prstGeom>
          <a:noFill/>
          <a:ln w="76214" cap="flat" cmpd="sng" algn="ctr">
            <a:solidFill>
              <a:srgbClr val="595959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69" name="사각형: 둥근 모서리 1">
            <a:extLst>
              <a:ext uri="{FF2B5EF4-FFF2-40B4-BE49-F238E27FC236}">
                <a16:creationId xmlns:a16="http://schemas.microsoft.com/office/drawing/2014/main" id="{EA11039B-083B-47B1-8C3A-33E9DE3FA562}"/>
              </a:ext>
            </a:extLst>
          </p:cNvPr>
          <p:cNvSpPr/>
          <p:nvPr/>
        </p:nvSpPr>
        <p:spPr>
          <a:xfrm>
            <a:off x="733160" y="11195174"/>
            <a:ext cx="5891331" cy="1010121"/>
          </a:xfrm>
          <a:prstGeom prst="roundRect">
            <a:avLst/>
          </a:prstGeom>
          <a:solidFill>
            <a:srgbClr val="95373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603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연구 배경 이론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96B78-BA03-8DEA-8953-7B613954FC67}"/>
              </a:ext>
            </a:extLst>
          </p:cNvPr>
          <p:cNvSpPr txBox="1"/>
          <p:nvPr/>
        </p:nvSpPr>
        <p:spPr>
          <a:xfrm>
            <a:off x="24217917" y="2868336"/>
            <a:ext cx="5665375" cy="83099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rgbClr val="953735"/>
                </a:solidFill>
              </a:rPr>
              <a:t>[</a:t>
            </a:r>
            <a:r>
              <a:rPr lang="ko-KR" altLang="en-US" sz="4800" dirty="0">
                <a:solidFill>
                  <a:srgbClr val="953735"/>
                </a:solidFill>
              </a:rPr>
              <a:t>졸업 프로젝트 발표</a:t>
            </a:r>
            <a:r>
              <a:rPr lang="en-US" altLang="ko-KR" sz="4800" dirty="0">
                <a:solidFill>
                  <a:srgbClr val="953735"/>
                </a:solidFill>
              </a:rPr>
              <a:t>]</a:t>
            </a:r>
            <a:endParaRPr lang="en-KR" sz="4800" dirty="0">
              <a:solidFill>
                <a:srgbClr val="95373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1" name="content_1001"/>
              <p:cNvSpPr txBox="1"/>
              <p:nvPr/>
            </p:nvSpPr>
            <p:spPr>
              <a:xfrm>
                <a:off x="494064" y="12234889"/>
                <a:ext cx="14099590" cy="8119223"/>
              </a:xfrm>
              <a:prstGeom prst="rect">
                <a:avLst/>
              </a:prstGeom>
            </p:spPr>
            <p:txBody>
              <a:bodyPr wrap="square" rtlCol="0" anchor="t"/>
              <a:lstStyle/>
              <a:p>
                <a:pPr lvl="0" algn="just">
                  <a:spcAft>
                    <a:spcPts val="450"/>
                  </a:spcAft>
                  <a:buNone/>
                </a:pPr>
                <a:r>
                  <a:rPr lang="ko-KR" altLang="en-US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[SNN</a:t>
                </a:r>
                <a:r>
                  <a:rPr lang="en-US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(Spiking Neural Network)]</a:t>
                </a:r>
              </a:p>
              <a:p>
                <a:pPr lvl="0" algn="just">
                  <a:spcAft>
                    <a:spcPts val="450"/>
                  </a:spcAft>
                  <a:buNone/>
                </a:pP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SNN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생물학적 뉴런의 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spike 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전달 방식을 모방한 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신경망 </a:t>
                </a: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 algn="just">
                  <a:spcAft>
                    <a:spcPts val="500"/>
                  </a:spcAft>
                  <a:buFont typeface="Arial"/>
                  <a:buChar char="•"/>
                </a:pPr>
                <a:r>
                  <a:rPr lang="ko-KR" altLang="ko-KR" sz="2400" dirty="0"/>
                  <a:t>막전위가 쌓이다 </a:t>
                </a:r>
                <a:r>
                  <a:rPr lang="ko-KR" altLang="ko-KR" sz="2400" dirty="0" err="1"/>
                  <a:t>임계값</a:t>
                </a:r>
                <a:r>
                  <a:rPr lang="ko-KR" altLang="ko-KR" sz="2400" dirty="0"/>
                  <a:t> 초과 시에만 스파이크 발화</a:t>
                </a:r>
                <a:endParaRPr lang="en-US" altLang="ko-KR" sz="2400" dirty="0"/>
              </a:p>
              <a:p>
                <a:pPr marL="285750" indent="-285750" algn="just">
                  <a:spcAft>
                    <a:spcPts val="500"/>
                  </a:spcAft>
                  <a:buFont typeface="Arial"/>
                  <a:buChar char="•"/>
                </a:pPr>
                <a:r>
                  <a:rPr lang="ko-KR" altLang="ko-KR" sz="2400" dirty="0"/>
                  <a:t>변화 적은 상황 → 불필요한 연산 ↓ → </a:t>
                </a:r>
                <a:r>
                  <a:rPr lang="ko-KR" altLang="ko-KR" sz="2400" b="1" dirty="0"/>
                  <a:t>저전력</a:t>
                </a:r>
                <a:endParaRPr lang="en-US" altLang="ko-KR" sz="2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 algn="just">
                  <a:spcAft>
                    <a:spcPts val="500"/>
                  </a:spcAft>
                  <a:buFont typeface="Arial"/>
                  <a:buChar char="•"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r>
                  <a:rPr lang="en-US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[</a:t>
                </a:r>
                <a:r>
                  <a:rPr lang="ko-KR" altLang="en-US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LIF</a:t>
                </a:r>
                <a:r>
                  <a:rPr lang="en-US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(Leaky Integrate and Fire)</a:t>
                </a:r>
                <a:r>
                  <a:rPr lang="ko-KR" altLang="en-US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 뉴런]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- 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가장 표준적이고 단순한 뉴런 모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델</a:t>
                </a: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 algn="just">
                  <a:spcAft>
                    <a:spcPts val="500"/>
                  </a:spcAft>
                  <a:buFont typeface="Arial"/>
                  <a:buChar char="•"/>
                </a:pPr>
                <a:r>
                  <a:rPr lang="ko-KR" altLang="ko-KR" sz="2000" b="1" dirty="0" err="1"/>
                  <a:t>Integrate</a:t>
                </a:r>
                <a:r>
                  <a:rPr lang="ko-KR" altLang="ko-KR" sz="2000" dirty="0"/>
                  <a:t>: 입력이 막전위에 누적 </a:t>
                </a:r>
                <a:endParaRPr lang="en-US" altLang="ko-KR" sz="2000" dirty="0"/>
              </a:p>
              <a:p>
                <a:pPr marL="285750" indent="-285750" algn="just">
                  <a:spcAft>
                    <a:spcPts val="500"/>
                  </a:spcAft>
                  <a:buFont typeface="Arial"/>
                  <a:buChar char="•"/>
                </a:pPr>
                <a:r>
                  <a:rPr lang="ko-KR" altLang="ko-KR" sz="2000" b="1" dirty="0" err="1"/>
                  <a:t>Leaky</a:t>
                </a:r>
                <a:r>
                  <a:rPr lang="ko-KR" altLang="ko-KR" sz="2000" dirty="0"/>
                  <a:t>: 시간이 지나면 </a:t>
                </a:r>
                <a:r>
                  <a:rPr lang="ko-KR" altLang="ko-KR" sz="2000" dirty="0" err="1"/>
                  <a:t>막전위</a:t>
                </a:r>
                <a:r>
                  <a:rPr lang="ko-KR" altLang="ko-KR" sz="2000" dirty="0"/>
                  <a:t> 누설 → 입력 끊기면 휴지 상태로 하강 </a:t>
                </a:r>
                <a:endParaRPr lang="en-US" altLang="ko-KR" sz="2000" dirty="0"/>
              </a:p>
              <a:p>
                <a:pPr marL="285750" indent="-285750" algn="just">
                  <a:spcAft>
                    <a:spcPts val="500"/>
                  </a:spcAft>
                  <a:buFont typeface="Arial"/>
                  <a:buChar char="•"/>
                </a:pPr>
                <a:r>
                  <a:rPr lang="ko-KR" altLang="ko-KR" sz="2000" b="1" dirty="0" err="1"/>
                  <a:t>Fire</a:t>
                </a:r>
                <a:r>
                  <a:rPr lang="ko-KR" altLang="ko-KR" sz="2000" dirty="0"/>
                  <a:t>: </a:t>
                </a:r>
                <a:r>
                  <a:rPr lang="ko-KR" altLang="ko-KR" sz="2000" dirty="0" err="1"/>
                  <a:t>임계값</a:t>
                </a:r>
                <a:r>
                  <a:rPr lang="ko-KR" altLang="ko-KR" sz="2000" dirty="0"/>
                  <a:t> 도달 시 스파이크 발생 → 직후 리셋 후 반복</a:t>
                </a: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just"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ko-KR" altLang="ko-KR" sz="2400" i="1" dirty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ko-KR" sz="2400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ko-KR" sz="24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ko-KR" sz="2400" i="1" dirty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ko-KR" sz="2400" i="1" dirty="0" err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ko-K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ko-KR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ko-KR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ko-KR" altLang="ko-KR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ko-KR" sz="2400" i="1" dirty="0" err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ko-KR" sz="2400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ko-KR" sz="24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ko-KR" sz="2400" i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just"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ko-KR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ko-KR" sz="2400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ko-KR" sz="2400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ko-KR" sz="24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ko-K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ko-KR" sz="2400" i="1" dirty="0" err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ko-KR" altLang="ko-KR" sz="2400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ko-KR" sz="2400" i="1" dirty="0" err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ko-KR" altLang="ko-KR" sz="2400" i="1" dirty="0" err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ko-KR" sz="2400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ko-KR" altLang="ko-KR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ko-KR" sz="24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ko-KR" sz="2400" i="1" dirty="0" err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ko-KR" altLang="ko-KR" sz="2400" i="1" dirty="0" err="1">
                                  <a:latin typeface="Cambria Math" panose="02040503050406030204" pitchFamily="18" charset="0"/>
                                </a:rPr>
                                <m:t>𝑡ℎ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2400" i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just">
                  <a:spcAft>
                    <a:spcPts val="450"/>
                  </a:spcAft>
                </a:pPr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ko-KR" sz="2000" i="1" dirty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ko-KR" altLang="ko-KR" sz="2000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ko-KR" sz="20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:</a:t>
                </a:r>
                <a:r>
                  <a:rPr lang="ko-KR" altLang="en-US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 </a:t>
                </a:r>
                <a:r>
                  <a:rPr lang="ko-KR" altLang="en-US" sz="2000" dirty="0" err="1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막전위</a:t>
                </a:r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ko-KR" sz="2000" i="1" dirty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ko-KR" altLang="ko-KR" sz="2000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ko-KR" sz="20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: </a:t>
                </a:r>
                <a:r>
                  <a:rPr lang="ko-KR" altLang="en-US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입력</a:t>
                </a:r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  <a:cs typeface="Microsoft Sans Serif"/>
                      </a:rPr>
                      <m:t>𝛽</m:t>
                    </m:r>
                  </m:oMath>
                </a14:m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: </a:t>
                </a:r>
                <a:r>
                  <a:rPr lang="ko-KR" altLang="en-US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감쇠 계수</a:t>
                </a:r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ko-KR" sz="20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∙)</m:t>
                    </m:r>
                  </m:oMath>
                </a14:m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: Heaviside Step Function)</a:t>
                </a:r>
              </a:p>
              <a:p>
                <a:pPr algn="just">
                  <a:spcAft>
                    <a:spcPts val="450"/>
                  </a:spcAft>
                </a:pPr>
                <a:r>
                  <a:rPr lang="en-US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[Surrogate Gradient</a:t>
                </a:r>
                <a:r>
                  <a:rPr lang="ko-KR" altLang="en-US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]</a:t>
                </a:r>
                <a:r>
                  <a:rPr lang="en-US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 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– Spike 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계단함수의 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미분이 어렵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다는 문제를 해결하기 위한 학습 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방법</a:t>
                </a: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 algn="just">
                  <a:spcAft>
                    <a:spcPts val="500"/>
                  </a:spcAft>
                  <a:buFont typeface="Arial"/>
                  <a:buChar char="•"/>
                </a:pPr>
                <a:r>
                  <a:rPr lang="ko-KR" altLang="ko-KR" sz="2400" b="1" dirty="0" err="1"/>
                  <a:t>순전파</a:t>
                </a:r>
                <a:r>
                  <a:rPr lang="ko-KR" altLang="ko-KR" sz="2400" dirty="0"/>
                  <a:t>: 실제 </a:t>
                </a:r>
                <a:r>
                  <a:rPr lang="ko-KR" altLang="ko-KR" sz="2400" dirty="0" err="1"/>
                  <a:t>spike</a:t>
                </a:r>
                <a:r>
                  <a:rPr lang="ko-KR" altLang="ko-KR" sz="2400" dirty="0"/>
                  <a:t> 동작 유지 </a:t>
                </a:r>
                <a:endParaRPr lang="en-US" altLang="ko-KR" sz="2400" dirty="0"/>
              </a:p>
              <a:p>
                <a:pPr marL="285750" indent="-285750" algn="just">
                  <a:spcAft>
                    <a:spcPts val="500"/>
                  </a:spcAft>
                  <a:buFont typeface="Arial"/>
                  <a:buChar char="•"/>
                </a:pPr>
                <a:r>
                  <a:rPr lang="ko-KR" altLang="ko-KR" sz="2400" b="1" dirty="0" err="1"/>
                  <a:t>역전파</a:t>
                </a:r>
                <a:r>
                  <a:rPr lang="ko-KR" altLang="ko-KR" sz="2400" dirty="0"/>
                  <a:t>: 미분 가능한 </a:t>
                </a:r>
                <a:r>
                  <a:rPr lang="ko-KR" altLang="ko-KR" sz="2400" dirty="0" err="1"/>
                  <a:t>surrogate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gradient로</a:t>
                </a:r>
                <a:r>
                  <a:rPr lang="ko-KR" altLang="ko-KR" sz="2400" dirty="0"/>
                  <a:t> 대체</a:t>
                </a:r>
                <a:r>
                  <a:rPr lang="en-US" altLang="ko-KR" sz="2400" dirty="0"/>
                  <a:t> (fast sigmoid)</a:t>
                </a:r>
              </a:p>
              <a:p>
                <a:pPr algn="just">
                  <a:spcAft>
                    <a:spcPts val="5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200" i="1">
                              <a:latin typeface="Cambria Math" panose="02040503050406030204" pitchFamily="18" charset="0"/>
                            </a:rPr>
                            <m:t>𝑑𝑆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altLang="ko-KR" sz="2200" i="1">
                              <a:latin typeface="Cambria Math" panose="02040503050406030204" pitchFamily="18" charset="0"/>
                            </a:rPr>
                            <m:t>𝑑𝑈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n-US" altLang="ko-KR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200" i="1">
                              <a:latin typeface="Cambria Math" panose="02040503050406030204" pitchFamily="18" charset="0"/>
                            </a:rPr>
                            <m:t>𝑑𝐻</m:t>
                          </m:r>
                          <m:r>
                            <a:rPr lang="en-US" altLang="ko-KR" sz="2200" i="1">
                              <a:latin typeface="Cambria Math" panose="02040503050406030204" pitchFamily="18" charset="0"/>
                            </a:rPr>
                            <m:t>​</m:t>
                          </m:r>
                          <m:d>
                            <m:d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</a:rPr>
                                    <m:t>𝑡ℎ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ko-KR" sz="2200" i="1">
                              <a:latin typeface="Cambria Math" panose="02040503050406030204" pitchFamily="18" charset="0"/>
                            </a:rPr>
                            <m:t>𝑑𝑈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n-US" altLang="ko-KR" sz="2200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ko-K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altLang="ko-KR" sz="2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𝑡ℎ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just">
                  <a:spcAft>
                    <a:spcPts val="450"/>
                  </a:spcAft>
                </a:pPr>
                <a:r>
                  <a:rPr lang="en-US" altLang="ko-KR" sz="2200" dirty="0"/>
                  <a:t>(</a:t>
                </a:r>
                <a14:m>
                  <m:oMath xmlns:m="http://schemas.openxmlformats.org/officeDocument/2006/math">
                    <m:r>
                      <a:rPr lang="ko-KR" altLang="ko-KR" sz="2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2200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slope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계수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</a:p>
              <a:p>
                <a:pPr algn="just">
                  <a:spcAft>
                    <a:spcPts val="450"/>
                  </a:spcAft>
                </a:pPr>
                <a14:m>
                  <m:oMath xmlns:m="http://schemas.openxmlformats.org/officeDocument/2006/math">
                    <m:r>
                      <a:rPr lang="ko-KR" altLang="ko-KR" sz="2200" i="1" dirty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ko-KR" altLang="ko-KR" sz="2200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ko-KR" sz="22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ko-KR" sz="2200" i="1" dirty="0" err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200" i="1" dirty="0" err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임계값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22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sz="2200" i="1" dirty="0" err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ko-KR" altLang="ko-KR" sz="2200" i="1" dirty="0" err="1">
                            <a:latin typeface="Cambria Math" panose="02040503050406030204" pitchFamily="18" charset="0"/>
                          </a:rPr>
                          <m:t>𝑡ℎ</m:t>
                        </m:r>
                      </m:sub>
                    </m:sSub>
                    <m:r>
                      <a:rPr lang="ko-KR" altLang="ko-KR" sz="22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에 가까울수록 해당 뉴런의 가중치 업데이트가 크게 </a:t>
                </a:r>
                <a:r>
                  <a:rPr lang="ko-KR" altLang="en-US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일어남</a:t>
                </a: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just">
                  <a:spcAft>
                    <a:spcPts val="450"/>
                  </a:spcAft>
                </a:pPr>
                <a:r>
                  <a:rPr lang="ko-KR" altLang="ko-KR" sz="2400" dirty="0"/>
                  <a:t>→ 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이산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spike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동작을 유지하면서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gradient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descent</a:t>
                </a:r>
                <a:r>
                  <a:rPr lang="ko-KR" altLang="en-US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학습 가능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algn="just">
                  <a:spcAft>
                    <a:spcPts val="450"/>
                  </a:spcAft>
                </a:pPr>
                <a:endParaRPr lang="en-US" altLang="ko-KR" sz="2200" dirty="0">
                  <a:solidFill>
                    <a:srgbClr val="95373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algn="just">
                  <a:spcAft>
                    <a:spcPts val="450"/>
                  </a:spcAft>
                </a:pPr>
                <a:endParaRPr lang="en-US" altLang="ko-KR" sz="20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algn="just">
                  <a:spcAft>
                    <a:spcPts val="450"/>
                  </a:spcAft>
                </a:pPr>
                <a:endParaRPr lang="ko-KR" altLang="en-US" sz="2400" dirty="0">
                  <a:solidFill>
                    <a:srgbClr val="95373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lvl="0" algn="just">
                  <a:spcAft>
                    <a:spcPts val="450"/>
                  </a:spcAft>
                  <a:buNone/>
                </a:pPr>
                <a:endParaRPr lang="en-US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</p:txBody>
          </p:sp>
        </mc:Choice>
        <mc:Fallback xmlns="">
          <p:sp>
            <p:nvSpPr>
              <p:cNvPr id="1001" name="content_10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64" y="12234889"/>
                <a:ext cx="14099590" cy="8119223"/>
              </a:xfrm>
              <a:prstGeom prst="rect">
                <a:avLst/>
              </a:prstGeom>
              <a:blipFill>
                <a:blip r:embed="rId4"/>
                <a:stretch>
                  <a:fillRect l="-649" t="-601" b="-22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0" name="content_1010"/>
          <p:cNvSpPr txBox="1"/>
          <p:nvPr/>
        </p:nvSpPr>
        <p:spPr>
          <a:xfrm>
            <a:off x="15446679" y="37807230"/>
            <a:ext cx="14358907" cy="2487345"/>
          </a:xfrm>
          <a:prstGeom prst="rect">
            <a:avLst/>
          </a:prstGeom>
        </p:spPr>
        <p:txBody>
          <a:bodyPr wrap="square" rtlCol="0" anchor="t"/>
          <a:lstStyle/>
          <a:p>
            <a:pPr lv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[1] Eshraghian et al., Training SNNs Using Lessons From Deep Learning, Proc. IEEE 2023 (snnTorch)</a:t>
            </a:r>
          </a:p>
          <a:p>
            <a:pPr lvl="0" algn="l">
              <a:spcAft>
                <a:spcPts val="300"/>
              </a:spcAft>
              <a:buNone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[2] Gerstner &amp; Kistler, Spiking Neuron Models, 2002 (LIF)</a:t>
            </a:r>
          </a:p>
          <a:p>
            <a:pPr lvl="0" algn="l">
              <a:spcAft>
                <a:spcPts val="300"/>
              </a:spcAft>
              <a:buNone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[3] Jacob et al., Quantization for Integer-Arithmetic-Only Inference, CVPR 2018</a:t>
            </a:r>
          </a:p>
          <a:p>
            <a:pPr lvl="0" algn="l">
              <a:spcAft>
                <a:spcPts val="300"/>
              </a:spcAft>
              <a:buNone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[4] Redmon et al., YOLO, CVPR 2016</a:t>
            </a:r>
          </a:p>
          <a:p>
            <a:pPr lvl="0" algn="l">
              <a:spcAft>
                <a:spcPts val="0"/>
              </a:spcAft>
              <a:buNone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[5] Xilinx Zynq-7000 TRM (UG585) / Digilent Zybo Z7 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Manual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[6]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Bahariasl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&amp;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Kheradpisheh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Self-Supervised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Contrastive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Learning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Spiking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Neural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Networks, MVIP 2024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(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SNN + </a:t>
            </a:r>
            <a:r>
              <a:rPr lang="ko-KR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SimCLR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</p:txBody>
      </p:sp>
      <p:sp>
        <p:nvSpPr>
          <p:cNvPr id="4" name="사각형: 둥근 모서리 6149">
            <a:extLst>
              <a:ext uri="{FF2B5EF4-FFF2-40B4-BE49-F238E27FC236}">
                <a16:creationId xmlns:a16="http://schemas.microsoft.com/office/drawing/2014/main" id="{2C667450-4E9A-5B46-8C5E-1D20F647BE1F}"/>
              </a:ext>
            </a:extLst>
          </p:cNvPr>
          <p:cNvSpPr/>
          <p:nvPr/>
        </p:nvSpPr>
        <p:spPr>
          <a:xfrm>
            <a:off x="15395926" y="37158840"/>
            <a:ext cx="14527196" cy="3144112"/>
          </a:xfrm>
          <a:prstGeom prst="roundRect">
            <a:avLst>
              <a:gd name="adj" fmla="val 3385"/>
            </a:avLst>
          </a:prstGeom>
          <a:noFill/>
          <a:ln w="76214" cap="flat" cmpd="sng" algn="ctr">
            <a:solidFill>
              <a:srgbClr val="595959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1">
            <a:extLst>
              <a:ext uri="{FF2B5EF4-FFF2-40B4-BE49-F238E27FC236}">
                <a16:creationId xmlns:a16="http://schemas.microsoft.com/office/drawing/2014/main" id="{77984544-7DCE-26AC-DD9D-575B68BC2E20}"/>
              </a:ext>
            </a:extLst>
          </p:cNvPr>
          <p:cNvSpPr/>
          <p:nvPr/>
        </p:nvSpPr>
        <p:spPr>
          <a:xfrm>
            <a:off x="15895662" y="4633210"/>
            <a:ext cx="5891331" cy="1010121"/>
          </a:xfrm>
          <a:prstGeom prst="roundRect">
            <a:avLst/>
          </a:prstGeom>
          <a:solidFill>
            <a:srgbClr val="95373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603" i="1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rPr>
              <a:t>설계 결과</a:t>
            </a:r>
          </a:p>
        </p:txBody>
      </p:sp>
      <p:sp>
        <p:nvSpPr>
          <p:cNvPr id="13" name="사각형: 둥근 모서리 1">
            <a:extLst>
              <a:ext uri="{FF2B5EF4-FFF2-40B4-BE49-F238E27FC236}">
                <a16:creationId xmlns:a16="http://schemas.microsoft.com/office/drawing/2014/main" id="{81F71019-9358-96D7-7057-AC3C5C73BAE5}"/>
              </a:ext>
            </a:extLst>
          </p:cNvPr>
          <p:cNvSpPr/>
          <p:nvPr/>
        </p:nvSpPr>
        <p:spPr>
          <a:xfrm>
            <a:off x="15899746" y="36797109"/>
            <a:ext cx="5891331" cy="1010121"/>
          </a:xfrm>
          <a:prstGeom prst="roundRect">
            <a:avLst/>
          </a:prstGeom>
          <a:solidFill>
            <a:srgbClr val="95373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603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참고 문헌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F04CAF7A-E24F-17D3-1A06-7DE0C1E3A5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305432" y="1915437"/>
            <a:ext cx="1720089" cy="1574746"/>
          </a:xfrm>
          <a:prstGeom prst="rect">
            <a:avLst/>
          </a:prstGeom>
        </p:spPr>
      </p:pic>
      <p:sp>
        <p:nvSpPr>
          <p:cNvPr id="38" name="사각형: 둥근 모서리 1">
            <a:extLst>
              <a:ext uri="{FF2B5EF4-FFF2-40B4-BE49-F238E27FC236}">
                <a16:creationId xmlns:a16="http://schemas.microsoft.com/office/drawing/2014/main" id="{BE0B75D9-6F82-9BCD-0F48-725A3939E541}"/>
              </a:ext>
            </a:extLst>
          </p:cNvPr>
          <p:cNvSpPr/>
          <p:nvPr/>
        </p:nvSpPr>
        <p:spPr>
          <a:xfrm>
            <a:off x="20087784" y="2455092"/>
            <a:ext cx="2202156" cy="45719"/>
          </a:xfrm>
          <a:prstGeom prst="roundRect">
            <a:avLst/>
          </a:prstGeom>
          <a:solidFill>
            <a:srgbClr val="95373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603" i="1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F69F9AB-6942-A89F-4732-813A1622419B}"/>
              </a:ext>
            </a:extLst>
          </p:cNvPr>
          <p:cNvGrpSpPr/>
          <p:nvPr/>
        </p:nvGrpSpPr>
        <p:grpSpPr>
          <a:xfrm>
            <a:off x="535890" y="27194145"/>
            <a:ext cx="14201228" cy="4801482"/>
            <a:chOff x="555308" y="23277135"/>
            <a:chExt cx="14201228" cy="480148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D61960-2693-FEEC-55B1-CDD7BFAC43E6}"/>
                </a:ext>
              </a:extLst>
            </p:cNvPr>
            <p:cNvSpPr txBox="1"/>
            <p:nvPr/>
          </p:nvSpPr>
          <p:spPr>
            <a:xfrm>
              <a:off x="12373945" y="27346821"/>
              <a:ext cx="962113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Pan-Tilt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제어</a:t>
              </a: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151DBB1-245C-D73A-5A27-2A02FB537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5308" y="23277135"/>
              <a:ext cx="14201228" cy="247556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6D4FE82-BA58-8C86-15D2-8277B7EFE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-1444"/>
            <a:stretch>
              <a:fillRect/>
            </a:stretch>
          </p:blipFill>
          <p:spPr>
            <a:xfrm>
              <a:off x="1475421" y="25865674"/>
              <a:ext cx="9927699" cy="1858318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0CD0CDCE-58EF-306D-5194-3C38BA190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16732"/>
            <a:stretch>
              <a:fillRect/>
            </a:stretch>
          </p:blipFill>
          <p:spPr>
            <a:xfrm>
              <a:off x="12005879" y="25932487"/>
              <a:ext cx="1698246" cy="1414088"/>
            </a:xfrm>
            <a:prstGeom prst="rect">
              <a:avLst/>
            </a:prstGeom>
          </p:spPr>
        </p:pic>
        <p:sp>
          <p:nvSpPr>
            <p:cNvPr id="39" name="화살표: 오른쪽 38">
              <a:extLst>
                <a:ext uri="{FF2B5EF4-FFF2-40B4-BE49-F238E27FC236}">
                  <a16:creationId xmlns:a16="http://schemas.microsoft.com/office/drawing/2014/main" id="{4D4D6190-7BE2-3FBC-3427-8A8FDD1F43B8}"/>
                </a:ext>
              </a:extLst>
            </p:cNvPr>
            <p:cNvSpPr/>
            <p:nvPr/>
          </p:nvSpPr>
          <p:spPr>
            <a:xfrm>
              <a:off x="11674264" y="26706765"/>
              <a:ext cx="381070" cy="152428"/>
            </a:xfrm>
            <a:prstGeom prst="right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0529391-004B-F26C-37EA-19281DF1495A}"/>
                </a:ext>
              </a:extLst>
            </p:cNvPr>
            <p:cNvSpPr txBox="1"/>
            <p:nvPr/>
          </p:nvSpPr>
          <p:spPr>
            <a:xfrm>
              <a:off x="6363771" y="27693896"/>
              <a:ext cx="2572347" cy="3847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900" dirty="0">
                  <a:solidFill>
                    <a:schemeClr val="accent6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900" dirty="0">
                  <a:solidFill>
                    <a:schemeClr val="accent6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그림</a:t>
              </a:r>
              <a:r>
                <a:rPr lang="en-US" altLang="ko-KR" sz="1900" dirty="0">
                  <a:solidFill>
                    <a:schemeClr val="accent6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3] </a:t>
              </a:r>
              <a:r>
                <a:rPr lang="ko-KR" altLang="en-US" sz="1900" dirty="0">
                  <a:solidFill>
                    <a:schemeClr val="accent6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 </a:t>
              </a:r>
              <a:r>
                <a:rPr lang="ko-KR" altLang="en-US" sz="1900" dirty="0" err="1">
                  <a:solidFill>
                    <a:schemeClr val="accent6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아키텍쳐</a:t>
              </a:r>
              <a:endPara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사각형: 둥근 모서리 1">
            <a:extLst>
              <a:ext uri="{FF2B5EF4-FFF2-40B4-BE49-F238E27FC236}">
                <a16:creationId xmlns:a16="http://schemas.microsoft.com/office/drawing/2014/main" id="{DF8B6F9C-13C2-F010-D54A-6A6F84DC2294}"/>
              </a:ext>
            </a:extLst>
          </p:cNvPr>
          <p:cNvSpPr/>
          <p:nvPr/>
        </p:nvSpPr>
        <p:spPr>
          <a:xfrm>
            <a:off x="841023" y="20639741"/>
            <a:ext cx="5891331" cy="1010121"/>
          </a:xfrm>
          <a:prstGeom prst="roundRect">
            <a:avLst/>
          </a:prstGeom>
          <a:solidFill>
            <a:srgbClr val="95373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603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설계 </a:t>
            </a:r>
            <a:r>
              <a:rPr lang="ko-KR" altLang="en-US" sz="5603" i="1" dirty="0" err="1">
                <a:latin typeface="Microsoft Sans Serif" panose="020B0604020202020204" pitchFamily="34" charset="0"/>
                <a:cs typeface="Microsoft Sans Serif" panose="020B0604020202020204" pitchFamily="34" charset="0"/>
              </a:rPr>
              <a:t>아키텍쳐</a:t>
            </a:r>
            <a:r>
              <a:rPr lang="ko-KR" altLang="en-US" sz="5603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</p:txBody>
      </p:sp>
      <p:graphicFrame>
        <p:nvGraphicFramePr>
          <p:cNvPr id="21" name="table_1006">
            <a:extLst>
              <a:ext uri="{FF2B5EF4-FFF2-40B4-BE49-F238E27FC236}">
                <a16:creationId xmlns:a16="http://schemas.microsoft.com/office/drawing/2014/main" id="{5BE1E578-5CF8-AF81-A1CD-1749F925F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6372835"/>
              </p:ext>
            </p:extLst>
          </p:nvPr>
        </p:nvGraphicFramePr>
        <p:xfrm>
          <a:off x="7908178" y="12326170"/>
          <a:ext cx="6742385" cy="1615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9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3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ANN(CNN)</a:t>
                      </a:r>
                      <a:endParaRPr lang="ko-KR" altLang="en-US" sz="2200" b="1" dirty="0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SNN</a:t>
                      </a:r>
                      <a:endParaRPr lang="ko-KR" altLang="en-US" sz="2200" b="1" dirty="0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정보 표현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연속 </a:t>
                      </a:r>
                      <a:r>
                        <a:rPr lang="ko-KR" altLang="en-US" sz="2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실수값</a:t>
                      </a:r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 </a:t>
                      </a:r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activation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Spiking pattern(timing)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8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연산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항상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Spike event-driven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8DB2E7DB-E228-46D3-C124-728868F5CA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7390" y="14418642"/>
            <a:ext cx="3703448" cy="2359719"/>
          </a:xfrm>
          <a:prstGeom prst="rect">
            <a:avLst/>
          </a:prstGeom>
        </p:spPr>
      </p:pic>
      <p:pic>
        <p:nvPicPr>
          <p:cNvPr id="25" name="그림 24" descr="Graphic of the High-Energy Laser Weapon from EOS.">
            <a:extLst>
              <a:ext uri="{FF2B5EF4-FFF2-40B4-BE49-F238E27FC236}">
                <a16:creationId xmlns:a16="http://schemas.microsoft.com/office/drawing/2014/main" id="{6F78E49A-CE29-F7B5-9522-453E6D39E3F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5102" t="18955" r="12949"/>
          <a:stretch>
            <a:fillRect/>
          </a:stretch>
        </p:blipFill>
        <p:spPr>
          <a:xfrm>
            <a:off x="11246258" y="5414691"/>
            <a:ext cx="3215360" cy="512263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D9DB903-0AD1-5B9A-9E4E-D7F34D5829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81013" y="17632892"/>
            <a:ext cx="4351738" cy="250099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31FCE78-9E06-6954-A050-AB4BD9565722}"/>
              </a:ext>
            </a:extLst>
          </p:cNvPr>
          <p:cNvSpPr txBox="1"/>
          <p:nvPr/>
        </p:nvSpPr>
        <p:spPr>
          <a:xfrm>
            <a:off x="6428029" y="26736861"/>
            <a:ext cx="2404994" cy="3847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2] 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구조도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9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C1315BDB-E944-7098-7540-89DFA5D1EB1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854"/>
          <a:stretch>
            <a:fillRect/>
          </a:stretch>
        </p:blipFill>
        <p:spPr>
          <a:xfrm>
            <a:off x="585928" y="21859165"/>
            <a:ext cx="14059061" cy="4930919"/>
          </a:xfrm>
          <a:prstGeom prst="rect">
            <a:avLst/>
          </a:prstGeom>
          <a:ln w="3810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72" name="content_1003">
                <a:extLst>
                  <a:ext uri="{FF2B5EF4-FFF2-40B4-BE49-F238E27FC236}">
                    <a16:creationId xmlns:a16="http://schemas.microsoft.com/office/drawing/2014/main" id="{3F6309A9-5AD0-1117-32E8-79996FDE9265}"/>
                  </a:ext>
                </a:extLst>
              </p:cNvPr>
              <p:cNvSpPr txBox="1"/>
              <p:nvPr/>
            </p:nvSpPr>
            <p:spPr>
              <a:xfrm>
                <a:off x="596879" y="31995626"/>
                <a:ext cx="14099590" cy="8002471"/>
              </a:xfrm>
              <a:prstGeom prst="rect">
                <a:avLst/>
              </a:prstGeom>
            </p:spPr>
            <p:txBody>
              <a:bodyPr wrap="square" rtlCol="0" anchor="t"/>
              <a:lstStyle/>
              <a:p>
                <a:pPr lvl="0" algn="just">
                  <a:spcAft>
                    <a:spcPts val="600"/>
                  </a:spcAft>
                  <a:buNone/>
                </a:pPr>
                <a:r>
                  <a:rPr lang="ko-KR" altLang="en-US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[</a:t>
                </a:r>
                <a:r>
                  <a:rPr lang="en-US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SNN Data flow</a:t>
                </a:r>
                <a:r>
                  <a:rPr lang="ko-KR" altLang="en-US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]</a:t>
                </a:r>
                <a:r>
                  <a:rPr lang="en-US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  </a:t>
                </a:r>
                <a:r>
                  <a:rPr lang="ko-KR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2-layer </a:t>
                </a:r>
                <a:r>
                  <a:rPr lang="ko-KR" altLang="ko-KR" sz="2400" dirty="0" err="1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fully-connected</a:t>
                </a:r>
                <a:r>
                  <a:rPr lang="ko-KR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 LIF</a:t>
                </a:r>
                <a:endParaRPr lang="en-US" altLang="ko-KR" sz="2400" dirty="0">
                  <a:solidFill>
                    <a:srgbClr val="95373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vl="0" algn="just">
                  <a:spcAft>
                    <a:spcPts val="600"/>
                  </a:spcAft>
                  <a:buNone/>
                </a:pP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입력 144-D 모션 특징벡터를 FC1(144→8) → FC2(8→2) 로 처리하며, 슬라이딩 윈도우의 20프레임을 20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timestep으로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순차 주입하는 시간적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추론을 수행한다.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각 뉴런은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막전위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membrane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potential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)를 누적하며, 매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timestep마다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ko-KR" altLang="en-US" sz="22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ko-KR" alt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20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ko-KR" altLang="en-US" sz="2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ko-KR" altLang="en-US" sz="22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altLang="ko-KR" sz="220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20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altLang="ko-KR" sz="220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ko-KR" altLang="en-US" sz="2200" i="1">
                                  <a:ea typeface="맑은 고딕" panose="020B0503020000020004" pitchFamily="50" charset="-127"/>
                                </a:rPr>
                                <m:t> </m:t>
                              </m:r>
                              <m:r>
                                <a:rPr lang="ko-KR" altLang="en-US" sz="22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ko-KR" alt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ko-KR" altLang="en-US" sz="22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2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altLang="ko-KR" sz="2200" i="1">
                              <a:ea typeface="맑은 고딕" panose="020B0503020000020004" pitchFamily="50" charset="-127"/>
                            </a:rPr>
                            <m:t>leak (decay)</m:t>
                          </m:r>
                        </m:lim>
                      </m:limLow>
                      <m:r>
                        <a:rPr lang="en-US" altLang="ko-KR" sz="220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ko-KR" altLang="en-US" sz="2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ko-KR" altLang="en-US" sz="22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nary>
                                <m:naryPr>
                                  <m:chr m:val="∑"/>
                                  <m:limLoc m:val="subSup"/>
                                  <m:grow m:val="on"/>
                                  <m:supHide m:val="on"/>
                                  <m:ctrlPr>
                                    <a:rPr lang="ko-KR" alt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ko-KR" alt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ko-KR" alt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2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ko-KR" alt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ko-KR" alt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altLang="ko-KR" sz="2200" i="1">
                              <a:ea typeface="맑은 고딕" panose="020B0503020000020004" pitchFamily="50" charset="-127"/>
                            </a:rPr>
                            <m:t>integrate</m:t>
                          </m:r>
                        </m:lim>
                      </m:limLow>
                    </m:oMath>
                  </m:oMathPara>
                </a14:m>
                <a:endParaRPr lang="ko-KR" altLang="en-US" sz="2200" b="0" dirty="0">
                  <a:ea typeface="맑은 고딕" panose="020B0503020000020004" pitchFamily="50" charset="-127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V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[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] ≥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θ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이면 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spike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발화 후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V를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0으로 리셋, 아니면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V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유지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leak은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shift-add로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구현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ko-KR" sz="22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FC1의 8개 스파이크가 FC2의 입력이 되고, 20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timestep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동안 FC2 두 출력 뉴런의 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spike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수를 누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적 후 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마지막에 스파이크 수 비교(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rate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coding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</a:t>
                </a: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ko-KR" sz="2200" b="0" i="1">
                          <a:ea typeface="맑은 고딕" panose="020B0503020000020004" pitchFamily="50" charset="-127"/>
                        </a:rPr>
                        <m:t>result</m:t>
                      </m:r>
                      <m:r>
                        <a:rPr lang="en-US" altLang="ko-KR" sz="2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ko-KR" alt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ko-KR" sz="2200" i="1">
                                    <a:ea typeface="맑은 고딕" panose="020B0503020000020004" pitchFamily="50" charset="-127"/>
                                  </a:rPr>
                                  <m:t>Flying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  <m:sSub>
                                      <m:sSubPr>
                                        <m:ctrlPr>
                                          <a:rPr lang="ko-KR" alt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22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2200" b="0" i="1" smtClean="0"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en-US" altLang="ko-KR" sz="2200" b="0" i="1" smtClean="0">
                                            <a:latin typeface="Cambria Math" panose="02040503050406030204" pitchFamily="18" charset="0"/>
                                          </a:rPr>
                                          <m:t>𝑐𝑛𝑡</m:t>
                                        </m:r>
                                      </m:e>
                                      <m:sub>
                                        <m:r>
                                          <a:rPr lang="en-US" altLang="ko-KR" sz="22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altLang="ko-KR" sz="220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  <m:r>
                                      <a:rPr lang="ko-KR" altLang="en-US" sz="2200" i="1">
                                        <a:latin typeface="Cambria Math" panose="02040503050406030204" pitchFamily="18" charset="0"/>
                                      </a:rPr>
                                      <m:t>𝑠𝑝</m:t>
                                    </m:r>
                                    <m:sSub>
                                      <m:sSubPr>
                                        <m:ctrlPr>
                                          <a:rPr lang="ko-KR" alt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22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2200" b="0" i="1" smtClean="0"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en-US" altLang="ko-KR" sz="2200" b="0" i="1" smtClean="0">
                                            <a:latin typeface="Cambria Math" panose="02040503050406030204" pitchFamily="18" charset="0"/>
                                          </a:rPr>
                                          <m:t>𝑐𝑛𝑡</m:t>
                                        </m:r>
                                      </m:e>
                                      <m:sub>
                                        <m:r>
                                          <a:rPr lang="en-US" altLang="ko-KR" sz="22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ko-KR" sz="2200" i="1">
                                    <a:ea typeface="맑은 고딕" panose="020B0503020000020004" pitchFamily="50" charset="-127"/>
                                  </a:rPr>
                                  <m:t>Non−flying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altLang="ko-KR" sz="2200" i="1">
                                        <a:latin typeface="+mn-ea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2200" i="1">
                                        <a:latin typeface="+mn-ea"/>
                                      </a:rPr>
                                      <m:t>otherwise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200" b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FSM 기반 제어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추론 완료 시 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done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 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신호를 발생하여 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CNN 트리거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 기능한다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SNN 코어는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python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의 </a:t>
                </a:r>
                <a:r>
                  <a:rPr lang="en-US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snnTorch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 모델 개발 및 최적화 후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 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RTL로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직접 설계해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IP화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하여 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하드웨어 구현</a:t>
                </a:r>
                <a:r>
                  <a:rPr lang="ko-KR" altLang="en-US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된다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algn="just">
                  <a:spcAft>
                    <a:spcPts val="1200"/>
                  </a:spcAft>
                </a:pPr>
                <a:r>
                  <a:rPr lang="ko-KR" altLang="en-US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[</a:t>
                </a:r>
                <a:r>
                  <a:rPr lang="en-US" altLang="ko-KR" sz="2400" dirty="0">
                    <a:solidFill>
                      <a:srgbClr val="953735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icrosoft Sans Serif"/>
                  </a:rPr>
                  <a:t>CNN Data flow] </a:t>
                </a:r>
                <a:r>
                  <a:rPr lang="ko-KR" altLang="ko-KR" dirty="0"/>
                  <a:t> </a:t>
                </a:r>
                <a:r>
                  <a:rPr lang="ko-KR" altLang="ko-KR" dirty="0" err="1">
                    <a:solidFill>
                      <a:srgbClr val="953735"/>
                    </a:solidFill>
                  </a:rPr>
                  <a:t>DroNet</a:t>
                </a:r>
                <a:r>
                  <a:rPr lang="en-US" altLang="ko-KR" dirty="0">
                    <a:solidFill>
                      <a:srgbClr val="953735"/>
                    </a:solidFill>
                  </a:rPr>
                  <a:t>-based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경량 CNN. 모든 연산은 int8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양자화이며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레이어별 재양자화(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shift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)로 8-bit를 유지한다.</a:t>
                </a:r>
                <a:endParaRPr lang="ko-KR" altLang="en-US" sz="2200" dirty="0"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하드웨어(PL): 8개 PE 병렬 처리, 3×3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conv는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3-stage 파이프라인 9-MAC(DSP) 트리로 수행,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ping-pong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프레임버퍼로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입력 프레임을 캡처한다. 가중치는 AXI-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Lite로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런타임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로드,제어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start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done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)도 AXI-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Lite로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PS와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통신한다.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후처리(PS):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raw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1320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byte를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PS(ARM)가 읽어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sigmoid·exp로</a:t>
                </a:r>
                <a:r>
                  <a:rPr lang="en-US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바운딩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박스를 디코딩하고 </a:t>
                </a:r>
                <a:r>
                  <a:rPr lang="ko-KR" altLang="ko-KR" sz="22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NMS로</a:t>
                </a:r>
                <a:r>
                  <a:rPr lang="ko-KR" altLang="ko-KR" sz="22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중복을 제거해 최종 객체 위치를 산출한다.</a:t>
                </a:r>
              </a:p>
              <a:p>
                <a:pPr lvl="0" algn="just">
                  <a:spcAft>
                    <a:spcPts val="600"/>
                  </a:spcAft>
                  <a:buNone/>
                </a:pPr>
                <a:endParaRPr lang="ko-KR" altLang="en-US" sz="2400" dirty="0">
                  <a:solidFill>
                    <a:srgbClr val="95373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icrosoft Sans Serif"/>
                </a:endParaRPr>
              </a:p>
            </p:txBody>
          </p:sp>
        </mc:Choice>
        <mc:Fallback xmlns="">
          <p:sp>
            <p:nvSpPr>
              <p:cNvPr id="972" name="content_1003">
                <a:extLst>
                  <a:ext uri="{FF2B5EF4-FFF2-40B4-BE49-F238E27FC236}">
                    <a16:creationId xmlns:a16="http://schemas.microsoft.com/office/drawing/2014/main" id="{3F6309A9-5AD0-1117-32E8-79996FDE9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9" y="31995626"/>
                <a:ext cx="14099590" cy="8002471"/>
              </a:xfrm>
              <a:prstGeom prst="rect">
                <a:avLst/>
              </a:prstGeom>
              <a:blipFill>
                <a:blip r:embed="rId13"/>
                <a:stretch>
                  <a:fillRect l="-692" t="-610" r="-562" b="-12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4" name="TextBox 973">
            <a:extLst>
              <a:ext uri="{FF2B5EF4-FFF2-40B4-BE49-F238E27FC236}">
                <a16:creationId xmlns:a16="http://schemas.microsoft.com/office/drawing/2014/main" id="{F770903D-1668-A5C3-39AD-9CF41BA7ED83}"/>
              </a:ext>
            </a:extLst>
          </p:cNvPr>
          <p:cNvSpPr txBox="1"/>
          <p:nvPr/>
        </p:nvSpPr>
        <p:spPr>
          <a:xfrm>
            <a:off x="11240637" y="10522884"/>
            <a:ext cx="305861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1] </a:t>
            </a:r>
            <a:r>
              <a:rPr lang="ko-KR" altLang="en-US" sz="19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안티드론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시스템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9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75" name="그림 974">
            <a:extLst>
              <a:ext uri="{FF2B5EF4-FFF2-40B4-BE49-F238E27FC236}">
                <a16:creationId xmlns:a16="http://schemas.microsoft.com/office/drawing/2014/main" id="{FDD7917B-EE03-72AA-5C76-FB3D88507CA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68344" y="20322632"/>
            <a:ext cx="7898300" cy="4884911"/>
          </a:xfrm>
          <a:prstGeom prst="rect">
            <a:avLst/>
          </a:prstGeom>
        </p:spPr>
      </p:pic>
      <p:sp>
        <p:nvSpPr>
          <p:cNvPr id="976" name="사각형: 둥근 모서리 6149">
            <a:extLst>
              <a:ext uri="{FF2B5EF4-FFF2-40B4-BE49-F238E27FC236}">
                <a16:creationId xmlns:a16="http://schemas.microsoft.com/office/drawing/2014/main" id="{46303ADE-A8A7-7032-2433-A05F6AA78528}"/>
              </a:ext>
            </a:extLst>
          </p:cNvPr>
          <p:cNvSpPr/>
          <p:nvPr/>
        </p:nvSpPr>
        <p:spPr>
          <a:xfrm>
            <a:off x="15442462" y="4867603"/>
            <a:ext cx="14508188" cy="23876910"/>
          </a:xfrm>
          <a:prstGeom prst="roundRect">
            <a:avLst>
              <a:gd name="adj" fmla="val 3385"/>
            </a:avLst>
          </a:prstGeom>
          <a:noFill/>
          <a:ln w="76214" cap="flat" cmpd="sng" algn="ctr">
            <a:solidFill>
              <a:srgbClr val="595959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 dirty="0"/>
          </a:p>
        </p:txBody>
      </p:sp>
      <p:sp>
        <p:nvSpPr>
          <p:cNvPr id="977" name="사각형: 둥근 모서리 6149">
            <a:extLst>
              <a:ext uri="{FF2B5EF4-FFF2-40B4-BE49-F238E27FC236}">
                <a16:creationId xmlns:a16="http://schemas.microsoft.com/office/drawing/2014/main" id="{7A127C97-97B2-451C-FA3F-79657B62A21D}"/>
              </a:ext>
            </a:extLst>
          </p:cNvPr>
          <p:cNvSpPr/>
          <p:nvPr/>
        </p:nvSpPr>
        <p:spPr>
          <a:xfrm>
            <a:off x="15442462" y="29264640"/>
            <a:ext cx="14508188" cy="7374073"/>
          </a:xfrm>
          <a:prstGeom prst="roundRect">
            <a:avLst>
              <a:gd name="adj" fmla="val 3385"/>
            </a:avLst>
          </a:prstGeom>
          <a:noFill/>
          <a:ln w="76214" cap="flat" cmpd="sng" algn="ctr">
            <a:solidFill>
              <a:srgbClr val="595959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78" name="사각형: 둥근 모서리 1">
            <a:extLst>
              <a:ext uri="{FF2B5EF4-FFF2-40B4-BE49-F238E27FC236}">
                <a16:creationId xmlns:a16="http://schemas.microsoft.com/office/drawing/2014/main" id="{30FCD2A2-D3E1-0C7F-FB84-761A4FA6F28D}"/>
              </a:ext>
            </a:extLst>
          </p:cNvPr>
          <p:cNvSpPr/>
          <p:nvPr/>
        </p:nvSpPr>
        <p:spPr>
          <a:xfrm>
            <a:off x="15895662" y="4633210"/>
            <a:ext cx="5891331" cy="1010121"/>
          </a:xfrm>
          <a:prstGeom prst="roundRect">
            <a:avLst/>
          </a:prstGeom>
          <a:solidFill>
            <a:srgbClr val="95373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603" i="1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 panose="020B0604020202020204" pitchFamily="34" charset="0"/>
              </a:rPr>
              <a:t>설계 결과</a:t>
            </a:r>
          </a:p>
        </p:txBody>
      </p:sp>
      <p:sp>
        <p:nvSpPr>
          <p:cNvPr id="979" name="사각형: 둥근 모서리 1">
            <a:extLst>
              <a:ext uri="{FF2B5EF4-FFF2-40B4-BE49-F238E27FC236}">
                <a16:creationId xmlns:a16="http://schemas.microsoft.com/office/drawing/2014/main" id="{378AC479-58A5-9576-41EE-2526759E91AE}"/>
              </a:ext>
            </a:extLst>
          </p:cNvPr>
          <p:cNvSpPr/>
          <p:nvPr/>
        </p:nvSpPr>
        <p:spPr>
          <a:xfrm>
            <a:off x="15895662" y="28911536"/>
            <a:ext cx="5891331" cy="1010121"/>
          </a:xfrm>
          <a:prstGeom prst="roundRect">
            <a:avLst/>
          </a:prstGeom>
          <a:solidFill>
            <a:srgbClr val="95373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603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결론</a:t>
            </a:r>
          </a:p>
        </p:txBody>
      </p:sp>
      <p:sp>
        <p:nvSpPr>
          <p:cNvPr id="980" name="content_1005">
            <a:extLst>
              <a:ext uri="{FF2B5EF4-FFF2-40B4-BE49-F238E27FC236}">
                <a16:creationId xmlns:a16="http://schemas.microsoft.com/office/drawing/2014/main" id="{CD29E10D-4DBF-F0AE-F719-FBD13492CBCC}"/>
              </a:ext>
            </a:extLst>
          </p:cNvPr>
          <p:cNvSpPr txBox="1"/>
          <p:nvPr/>
        </p:nvSpPr>
        <p:spPr>
          <a:xfrm>
            <a:off x="15630439" y="8780912"/>
            <a:ext cx="5721281" cy="487642"/>
          </a:xfrm>
          <a:prstGeom prst="rect">
            <a:avLst/>
          </a:prstGeom>
        </p:spPr>
        <p:txBody>
          <a:bodyPr wrap="square" rtlCol="0" anchor="t"/>
          <a:lstStyle/>
          <a:p>
            <a:pPr lvl="0" algn="l">
              <a:spcAft>
                <a:spcPts val="450"/>
              </a:spcAft>
              <a:buNone/>
            </a:pPr>
            <a:r>
              <a:rPr lang="en-US" altLang="ko-KR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2.</a:t>
            </a:r>
            <a:r>
              <a:rPr lang="ko-KR" altLang="en-US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</a:t>
            </a:r>
            <a:r>
              <a:rPr lang="en-US" altLang="ko-KR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SNN Core </a:t>
            </a:r>
            <a:r>
              <a:rPr lang="ko-KR" altLang="en-US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구조 탐색 및 자원 사용량</a:t>
            </a:r>
          </a:p>
        </p:txBody>
      </p:sp>
      <p:graphicFrame>
        <p:nvGraphicFramePr>
          <p:cNvPr id="981" name="table_1006">
            <a:extLst>
              <a:ext uri="{FF2B5EF4-FFF2-40B4-BE49-F238E27FC236}">
                <a16:creationId xmlns:a16="http://schemas.microsoft.com/office/drawing/2014/main" id="{231A0688-A5A6-8639-DB96-C80716DAF5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0783457"/>
              </p:ext>
            </p:extLst>
          </p:nvPr>
        </p:nvGraphicFramePr>
        <p:xfrm>
          <a:off x="15690515" y="9259696"/>
          <a:ext cx="8173325" cy="2133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87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9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입력 해상도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정확도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320×180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576-16-2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96%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o</a:t>
                      </a:r>
                      <a:r>
                        <a:rPr lang="ko-KR" altLang="en-US" sz="2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verfit</a:t>
                      </a:r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ting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160×90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144-16-2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95%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overfitting</a:t>
                      </a:r>
                      <a:endParaRPr lang="ko-KR" altLang="en-US" sz="22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0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320×180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144-8-2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리소스 낭비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62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160×90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144-8-2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82" name="content_1007">
            <a:extLst>
              <a:ext uri="{FF2B5EF4-FFF2-40B4-BE49-F238E27FC236}">
                <a16:creationId xmlns:a16="http://schemas.microsoft.com/office/drawing/2014/main" id="{58E02FE9-1105-6DA9-8AAD-B0C660ED1A18}"/>
              </a:ext>
            </a:extLst>
          </p:cNvPr>
          <p:cNvSpPr txBox="1"/>
          <p:nvPr/>
        </p:nvSpPr>
        <p:spPr>
          <a:xfrm>
            <a:off x="15620101" y="11792153"/>
            <a:ext cx="8361964" cy="3909242"/>
          </a:xfrm>
          <a:prstGeom prst="rect">
            <a:avLst/>
          </a:prstGeom>
        </p:spPr>
        <p:txBody>
          <a:bodyPr wrap="square" rtlCol="0" anchor="t"/>
          <a:lstStyle/>
          <a:p>
            <a:pPr lvl="0" algn="just">
              <a:spcAft>
                <a:spcPts val="450"/>
              </a:spcAft>
              <a:buNone/>
            </a:pP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</a:t>
            </a:r>
            <a:r>
              <a:rPr lang="en-US" altLang="ko-KR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SNN </a:t>
            </a: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모델</a:t>
            </a:r>
            <a:r>
              <a:rPr lang="en-US" altLang="ko-KR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</a:t>
            </a: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선정 근거 및 정량 지표]</a:t>
            </a:r>
          </a:p>
          <a:p>
            <a:pPr algn="just">
              <a:spcAft>
                <a:spcPts val="500"/>
              </a:spcAft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가장 효율적인 구조를 찾기 위해 입력 해상도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·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은닉층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크기를 탐색하였다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(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표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1).</a:t>
            </a:r>
          </a:p>
          <a:p>
            <a:pPr algn="just">
              <a:spcAft>
                <a:spcPts val="500"/>
              </a:spcAft>
            </a:pP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algn="just">
              <a:spcAft>
                <a:spcPts val="500"/>
              </a:spcAft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-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입력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576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개 구조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: overfitting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으로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96%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에 그침</a:t>
            </a:r>
          </a:p>
          <a:p>
            <a:pPr algn="just">
              <a:spcAft>
                <a:spcPts val="500"/>
              </a:spcAft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-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은닉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16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개 구조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: overfitting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으로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95%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에 그침</a:t>
            </a:r>
          </a:p>
          <a:p>
            <a:pPr algn="just">
              <a:spcAft>
                <a:spcPts val="500"/>
              </a:spcAft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- {144-8-2}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구조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: 320×180·160×90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모두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98%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유지</a:t>
            </a:r>
          </a:p>
          <a:p>
            <a:pPr algn="just">
              <a:spcAft>
                <a:spcPts val="1500"/>
              </a:spcAft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→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데이터량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75%↓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가능한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[160×90]·{144-8-2}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최종 선정</a:t>
            </a:r>
          </a:p>
          <a:p>
            <a:pPr algn="just">
              <a:spcAft>
                <a:spcPts val="1500"/>
              </a:spcAft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정량 지표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]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정확도 </a:t>
            </a:r>
            <a:r>
              <a:rPr lang="en-US" altLang="ko-KR" sz="2200" b="1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98%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·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추론 지연 ≈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236µs</a:t>
            </a:r>
            <a:endParaRPr lang="ko-KR" altLang="en-US" sz="22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</p:txBody>
      </p:sp>
      <p:pic>
        <p:nvPicPr>
          <p:cNvPr id="983" name="그림 982">
            <a:extLst>
              <a:ext uri="{FF2B5EF4-FFF2-40B4-BE49-F238E27FC236}">
                <a16:creationId xmlns:a16="http://schemas.microsoft.com/office/drawing/2014/main" id="{5585EDB8-F014-4A11-3B49-5E25352E92B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009645" y="16040163"/>
            <a:ext cx="5801015" cy="3413142"/>
          </a:xfrm>
          <a:prstGeom prst="rect">
            <a:avLst/>
          </a:prstGeom>
        </p:spPr>
      </p:pic>
      <p:sp>
        <p:nvSpPr>
          <p:cNvPr id="984" name="TextBox 983">
            <a:extLst>
              <a:ext uri="{FF2B5EF4-FFF2-40B4-BE49-F238E27FC236}">
                <a16:creationId xmlns:a16="http://schemas.microsoft.com/office/drawing/2014/main" id="{D205BCEE-9D29-7DFA-579F-56EDA9772A46}"/>
              </a:ext>
            </a:extLst>
          </p:cNvPr>
          <p:cNvSpPr txBox="1"/>
          <p:nvPr/>
        </p:nvSpPr>
        <p:spPr>
          <a:xfrm>
            <a:off x="23966753" y="19549233"/>
            <a:ext cx="5283286" cy="3847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5] CNN 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추론 결과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녹색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-SW, 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빨강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-HW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985" name="TextBox 984">
            <a:extLst>
              <a:ext uri="{FF2B5EF4-FFF2-40B4-BE49-F238E27FC236}">
                <a16:creationId xmlns:a16="http://schemas.microsoft.com/office/drawing/2014/main" id="{689CEF71-107F-513A-08E8-0071F7C9F2BD}"/>
              </a:ext>
            </a:extLst>
          </p:cNvPr>
          <p:cNvSpPr txBox="1"/>
          <p:nvPr/>
        </p:nvSpPr>
        <p:spPr>
          <a:xfrm>
            <a:off x="15589443" y="11444513"/>
            <a:ext cx="460873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1] SNN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구조 탐색 결과 </a:t>
            </a:r>
          </a:p>
        </p:txBody>
      </p:sp>
      <p:sp>
        <p:nvSpPr>
          <p:cNvPr id="986" name="TextBox 985">
            <a:extLst>
              <a:ext uri="{FF2B5EF4-FFF2-40B4-BE49-F238E27FC236}">
                <a16:creationId xmlns:a16="http://schemas.microsoft.com/office/drawing/2014/main" id="{2E5E9257-E1D2-550E-F604-53749FC4747B}"/>
              </a:ext>
            </a:extLst>
          </p:cNvPr>
          <p:cNvSpPr txBox="1"/>
          <p:nvPr/>
        </p:nvSpPr>
        <p:spPr>
          <a:xfrm>
            <a:off x="15690515" y="19822576"/>
            <a:ext cx="31003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450"/>
              </a:spcAft>
            </a:pPr>
            <a:r>
              <a:rPr lang="en-US" altLang="ko-KR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4.</a:t>
            </a:r>
            <a:r>
              <a:rPr lang="ko-KR" altLang="en-US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전력 측정 및 분석</a:t>
            </a:r>
          </a:p>
        </p:txBody>
      </p:sp>
      <p:graphicFrame>
        <p:nvGraphicFramePr>
          <p:cNvPr id="987" name="table_1004">
            <a:extLst>
              <a:ext uri="{FF2B5EF4-FFF2-40B4-BE49-F238E27FC236}">
                <a16:creationId xmlns:a16="http://schemas.microsoft.com/office/drawing/2014/main" id="{9DCAAD62-7AD9-E1A4-06A1-D8BAC16F34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2590089"/>
              </p:ext>
            </p:extLst>
          </p:nvPr>
        </p:nvGraphicFramePr>
        <p:xfrm>
          <a:off x="23408146" y="24607336"/>
          <a:ext cx="6470824" cy="152267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9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2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736">
                  <a:extLst>
                    <a:ext uri="{9D8B030D-6E8A-4147-A177-3AD203B41FA5}">
                      <a16:colId xmlns:a16="http://schemas.microsoft.com/office/drawing/2014/main" val="2483288081"/>
                    </a:ext>
                  </a:extLst>
                </a:gridCol>
              </a:tblGrid>
              <a:tr h="15839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 err="1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드론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ko-KR" altLang="en-US" sz="1800" b="1" dirty="0" err="1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출현율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altLang="ko-KR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lang="ko-KR" altLang="en-US" sz="1800" b="1" dirty="0">
                        <a:solidFill>
                          <a:srgbClr val="FFFFFF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CNN 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단독 설계</a:t>
                      </a:r>
                      <a:r>
                        <a:rPr lang="en-US" altLang="ko-KR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(+</a:t>
                      </a:r>
                      <a:r>
                        <a:rPr lang="el-GR" altLang="ko-KR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Δ</a:t>
                      </a:r>
                      <a:r>
                        <a:rPr lang="en-US" altLang="ko-KR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)</a:t>
                      </a:r>
                      <a:endParaRPr lang="ko-KR" altLang="en-US" sz="1800" b="1" dirty="0">
                        <a:solidFill>
                          <a:srgbClr val="FFFFFF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 err="1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케스케이딩</a:t>
                      </a:r>
                      <a:r>
                        <a:rPr lang="en-US" altLang="ko-KR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(+</a:t>
                      </a:r>
                      <a:r>
                        <a:rPr lang="el-GR" altLang="ko-KR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Δ</a:t>
                      </a:r>
                      <a:r>
                        <a:rPr lang="en-US" altLang="ko-KR" sz="1800" b="1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)</a:t>
                      </a:r>
                      <a:endParaRPr lang="ko-KR" altLang="en-US" sz="1800" b="1" dirty="0">
                        <a:solidFill>
                          <a:srgbClr val="FFFFFF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 err="1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절감률</a:t>
                      </a:r>
                      <a:endParaRPr lang="ko-KR" altLang="en-US" sz="1800" b="1" dirty="0">
                        <a:solidFill>
                          <a:srgbClr val="FFFFFF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3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 50(%)</a:t>
                      </a:r>
                      <a:endParaRPr lang="ko-KR" altLang="en-US" sz="1800" dirty="0"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+21(mA)</a:t>
                      </a:r>
                      <a:endParaRPr lang="ko-KR" altLang="en-US" sz="1800" dirty="0"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+21(mA)</a:t>
                      </a:r>
                      <a:endParaRPr lang="ko-KR" altLang="en-US" sz="1800" dirty="0"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dirty="0">
                          <a:latin typeface="Microsoft Sans Serif"/>
                          <a:cs typeface="Microsoft Sans Serif"/>
                        </a:rPr>
                        <a:t>동률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63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10(%)</a:t>
                      </a:r>
                      <a:endParaRPr lang="ko-KR" altLang="en-US" sz="1800" dirty="0"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+21(mA)</a:t>
                      </a:r>
                      <a:endParaRPr lang="ko-KR" altLang="en-US" sz="1800" dirty="0"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+13.8(mA)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34%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63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 1(%)</a:t>
                      </a:r>
                      <a:endParaRPr lang="ko-KR" altLang="en-US" sz="1800" dirty="0"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+21(mA)</a:t>
                      </a:r>
                      <a:endParaRPr lang="ko-KR" altLang="en-US" sz="1800" dirty="0"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+12.2(mA)</a:t>
                      </a:r>
                      <a:endParaRPr lang="ko-KR" altLang="en-US" sz="1800" dirty="0"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latin typeface="Microsoft Sans Serif"/>
                          <a:cs typeface="Microsoft Sans Serif"/>
                        </a:rPr>
                        <a:t>42%</a:t>
                      </a:r>
                      <a:endParaRPr lang="ko-KR" altLang="en-US" sz="1800" dirty="0">
                        <a:latin typeface="Microsoft Sans Serif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88" name="TextBox 987">
            <a:extLst>
              <a:ext uri="{FF2B5EF4-FFF2-40B4-BE49-F238E27FC236}">
                <a16:creationId xmlns:a16="http://schemas.microsoft.com/office/drawing/2014/main" id="{591C6EF7-A630-2FE1-E938-9C028D8CED66}"/>
              </a:ext>
            </a:extLst>
          </p:cNvPr>
          <p:cNvSpPr txBox="1"/>
          <p:nvPr/>
        </p:nvSpPr>
        <p:spPr>
          <a:xfrm>
            <a:off x="15511049" y="26910117"/>
            <a:ext cx="1428840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운용 시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평균 전력은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드론의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출현율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(d)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따라 달라진다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드론의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출현율이 반 이상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(d&gt;50%)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환경에서는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CNN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단독 설계가 유리하다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그러나 일반적인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안티드론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환경은 대부분의 시간에 표적이 없어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낮다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d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낮아짐에 따라 평균 감시 비용은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(+12mA)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수렴하고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절감률은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최대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43%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이를 수 있다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본 시스템은 표적이 드물수록 이득이 커지는 구조로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운용 조건에 정확히 부합한다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/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9" name="TextBox 988">
            <a:extLst>
              <a:ext uri="{FF2B5EF4-FFF2-40B4-BE49-F238E27FC236}">
                <a16:creationId xmlns:a16="http://schemas.microsoft.com/office/drawing/2014/main" id="{5EDCF801-D6F8-3E5A-1873-E2E0E3FB2987}"/>
              </a:ext>
            </a:extLst>
          </p:cNvPr>
          <p:cNvSpPr txBox="1"/>
          <p:nvPr/>
        </p:nvSpPr>
        <p:spPr>
          <a:xfrm>
            <a:off x="23328445" y="26109468"/>
            <a:ext cx="45961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5] 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표적 </a:t>
            </a:r>
            <a:r>
              <a:rPr lang="ko-KR" altLang="en-US" sz="19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출현율별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평균 오버헤드</a:t>
            </a:r>
          </a:p>
        </p:txBody>
      </p:sp>
      <p:sp>
        <p:nvSpPr>
          <p:cNvPr id="990" name="TextBox 989">
            <a:extLst>
              <a:ext uri="{FF2B5EF4-FFF2-40B4-BE49-F238E27FC236}">
                <a16:creationId xmlns:a16="http://schemas.microsoft.com/office/drawing/2014/main" id="{64794AB1-21DF-4C13-E6A0-0BAB3CDB604F}"/>
              </a:ext>
            </a:extLst>
          </p:cNvPr>
          <p:cNvSpPr txBox="1"/>
          <p:nvPr/>
        </p:nvSpPr>
        <p:spPr>
          <a:xfrm>
            <a:off x="15450853" y="26508145"/>
            <a:ext cx="7035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*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CNN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단독 설계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SNN·전처리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로직 없이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CNN만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합성한 전용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비트스트림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1" name="TextBox 990">
            <a:extLst>
              <a:ext uri="{FF2B5EF4-FFF2-40B4-BE49-F238E27FC236}">
                <a16:creationId xmlns:a16="http://schemas.microsoft.com/office/drawing/2014/main" id="{7B60CB51-5D5C-70F0-D82D-88D17C61BD12}"/>
              </a:ext>
            </a:extLst>
          </p:cNvPr>
          <p:cNvSpPr txBox="1"/>
          <p:nvPr/>
        </p:nvSpPr>
        <p:spPr>
          <a:xfrm>
            <a:off x="15528477" y="26180472"/>
            <a:ext cx="7153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Δ오버헤드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Reference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대비 증가분 — 탐지 시스템이 추가로 소비하는 전류</a:t>
            </a:r>
          </a:p>
        </p:txBody>
      </p:sp>
      <p:sp>
        <p:nvSpPr>
          <p:cNvPr id="992" name="content_1012">
            <a:extLst>
              <a:ext uri="{FF2B5EF4-FFF2-40B4-BE49-F238E27FC236}">
                <a16:creationId xmlns:a16="http://schemas.microsoft.com/office/drawing/2014/main" id="{72A3E804-E359-82E1-104A-7D298CC9471F}"/>
              </a:ext>
            </a:extLst>
          </p:cNvPr>
          <p:cNvSpPr txBox="1"/>
          <p:nvPr/>
        </p:nvSpPr>
        <p:spPr>
          <a:xfrm>
            <a:off x="15592521" y="15990687"/>
            <a:ext cx="5416426" cy="554352"/>
          </a:xfrm>
          <a:prstGeom prst="rect">
            <a:avLst/>
          </a:prstGeom>
        </p:spPr>
        <p:txBody>
          <a:bodyPr wrap="square" rtlCol="0" anchor="t"/>
          <a:lstStyle/>
          <a:p>
            <a:pPr lvl="0">
              <a:spcAft>
                <a:spcPts val="450"/>
              </a:spcAft>
            </a:pPr>
            <a:r>
              <a:rPr lang="en-US" altLang="ko-KR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3. CNN </a:t>
            </a:r>
            <a:r>
              <a:rPr lang="ko-KR" altLang="en-US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탐지 성능 및 </a:t>
            </a:r>
            <a:r>
              <a:rPr lang="en-US" altLang="ko-KR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HW </a:t>
            </a:r>
            <a:r>
              <a:rPr lang="ko-KR" altLang="en-US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구현 검증</a:t>
            </a: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D91DFD14-C169-B853-23E5-3F1FC551EF42}"/>
              </a:ext>
            </a:extLst>
          </p:cNvPr>
          <p:cNvSpPr txBox="1"/>
          <p:nvPr/>
        </p:nvSpPr>
        <p:spPr>
          <a:xfrm>
            <a:off x="15577209" y="16393962"/>
            <a:ext cx="83895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CNN 가속기는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RTL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환경에 올리기 위해 모든 소수 계산을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양자화하여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INT8 가중치와 정수 연산만으로 구현하였다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just"/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/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SW→HW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이식 정확도 손실을 검증한 결과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동일 프레임에서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SW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녹색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HW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빨강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검출 박스 위치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신뢰도가 일치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([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5])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하는 것을 확인하였다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/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탐지율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89%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42M MAC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2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37 FPS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처리 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실시간 추적 루프 구동 충분</a:t>
            </a:r>
          </a:p>
        </p:txBody>
      </p:sp>
      <p:pic>
        <p:nvPicPr>
          <p:cNvPr id="994" name="그림 993">
            <a:extLst>
              <a:ext uri="{FF2B5EF4-FFF2-40B4-BE49-F238E27FC236}">
                <a16:creationId xmlns:a16="http://schemas.microsoft.com/office/drawing/2014/main" id="{31A65168-76D8-00F1-BFD5-51FCA842B5E4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16519" t="6615" r="22104" b="10452"/>
          <a:stretch/>
        </p:blipFill>
        <p:spPr>
          <a:xfrm>
            <a:off x="24152100" y="5483195"/>
            <a:ext cx="5542379" cy="5616724"/>
          </a:xfrm>
          <a:prstGeom prst="rect">
            <a:avLst/>
          </a:prstGeom>
        </p:spPr>
      </p:pic>
      <p:sp>
        <p:nvSpPr>
          <p:cNvPr id="995" name="TextBox 994">
            <a:extLst>
              <a:ext uri="{FF2B5EF4-FFF2-40B4-BE49-F238E27FC236}">
                <a16:creationId xmlns:a16="http://schemas.microsoft.com/office/drawing/2014/main" id="{C4A08162-5163-A49E-BAFB-50FFDCA9FF8C}"/>
              </a:ext>
            </a:extLst>
          </p:cNvPr>
          <p:cNvSpPr txBox="1"/>
          <p:nvPr/>
        </p:nvSpPr>
        <p:spPr>
          <a:xfrm>
            <a:off x="24055790" y="11144889"/>
            <a:ext cx="386876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4] 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</a:t>
            </a:r>
            <a:r>
              <a:rPr lang="ko-KR" altLang="en-US" sz="19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구현물</a:t>
            </a:r>
            <a:endParaRPr lang="ko-KR" altLang="en-US" sz="19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6" name="content_1005">
            <a:extLst>
              <a:ext uri="{FF2B5EF4-FFF2-40B4-BE49-F238E27FC236}">
                <a16:creationId xmlns:a16="http://schemas.microsoft.com/office/drawing/2014/main" id="{06E2783C-25FE-82C7-8553-0FE068D61334}"/>
              </a:ext>
            </a:extLst>
          </p:cNvPr>
          <p:cNvSpPr txBox="1"/>
          <p:nvPr/>
        </p:nvSpPr>
        <p:spPr>
          <a:xfrm>
            <a:off x="15589659" y="5653586"/>
            <a:ext cx="2291651" cy="480325"/>
          </a:xfrm>
          <a:prstGeom prst="rect">
            <a:avLst/>
          </a:prstGeom>
        </p:spPr>
        <p:txBody>
          <a:bodyPr wrap="square" rtlCol="0" anchor="t"/>
          <a:lstStyle/>
          <a:p>
            <a:pPr lvl="0" algn="l">
              <a:spcAft>
                <a:spcPts val="450"/>
              </a:spcAft>
              <a:buNone/>
            </a:pPr>
            <a:r>
              <a:rPr lang="en-US" altLang="ko-KR" sz="2400" b="1" dirty="0">
                <a:solidFill>
                  <a:srgbClr val="953735"/>
                </a:solidFill>
                <a:latin typeface="Microsoft Sans Serif"/>
                <a:cs typeface="Microsoft Sans Serif"/>
              </a:rPr>
              <a:t>1.</a:t>
            </a:r>
            <a:r>
              <a:rPr lang="ko-KR" altLang="en-US" sz="2400" b="1" dirty="0">
                <a:solidFill>
                  <a:srgbClr val="953735"/>
                </a:solidFill>
                <a:latin typeface="Microsoft Sans Serif"/>
                <a:cs typeface="Microsoft Sans Serif"/>
              </a:rPr>
              <a:t> </a:t>
            </a:r>
            <a:r>
              <a:rPr lang="ko-KR" altLang="en-US" sz="2400" b="1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시스템</a:t>
            </a:r>
            <a:r>
              <a:rPr lang="ko-KR" altLang="en-US" sz="2400" b="1" dirty="0">
                <a:solidFill>
                  <a:srgbClr val="953735"/>
                </a:solidFill>
                <a:latin typeface="Microsoft Sans Serif"/>
                <a:cs typeface="Microsoft Sans Serif"/>
              </a:rPr>
              <a:t> 구현</a:t>
            </a: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7951B2CA-73B5-7803-3F67-C3820ABAAF29}"/>
              </a:ext>
            </a:extLst>
          </p:cNvPr>
          <p:cNvSpPr txBox="1"/>
          <p:nvPr/>
        </p:nvSpPr>
        <p:spPr>
          <a:xfrm>
            <a:off x="15589659" y="6087876"/>
            <a:ext cx="8379464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500"/>
              </a:spcAft>
              <a:buNone/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그림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4]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는 구현된 시스템 전경으로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, </a:t>
            </a:r>
            <a:r>
              <a:rPr lang="en-US" altLang="ko-KR" sz="2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Zybo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Z7-20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보드에 카메라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·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팬틸트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짐벌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·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레이저를 결합하였다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. PC·GPU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등 외부 연산 장치 없이 탐지부터 조준까지 전 과정이 보드 단독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(on-board)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으로 동작한다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.</a:t>
            </a:r>
          </a:p>
          <a:p>
            <a:pPr lvl="0" algn="just">
              <a:spcAft>
                <a:spcPts val="500"/>
              </a:spcAft>
              <a:buNone/>
            </a:pP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Aft>
                <a:spcPts val="500"/>
              </a:spcAft>
              <a:buNone/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전체 시스템의 합성 결과는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</a:t>
            </a:r>
            <a:r>
              <a:rPr lang="en-US" altLang="ko-KR" sz="2200" b="1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LUT 52%·BRAM 65%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수준에서 단일 칩에 수용되었다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.</a:t>
            </a:r>
          </a:p>
        </p:txBody>
      </p:sp>
      <p:sp>
        <p:nvSpPr>
          <p:cNvPr id="998" name="content_1009">
            <a:extLst>
              <a:ext uri="{FF2B5EF4-FFF2-40B4-BE49-F238E27FC236}">
                <a16:creationId xmlns:a16="http://schemas.microsoft.com/office/drawing/2014/main" id="{0A0EE598-D1DA-D29D-064B-A8CF2194E6D4}"/>
              </a:ext>
            </a:extLst>
          </p:cNvPr>
          <p:cNvSpPr txBox="1"/>
          <p:nvPr/>
        </p:nvSpPr>
        <p:spPr>
          <a:xfrm>
            <a:off x="15620101" y="29964194"/>
            <a:ext cx="14152910" cy="6631982"/>
          </a:xfrm>
          <a:prstGeom prst="rect">
            <a:avLst/>
          </a:prstGeom>
        </p:spPr>
        <p:txBody>
          <a:bodyPr wrap="square" rtlCol="0" anchor="t"/>
          <a:lstStyle/>
          <a:p>
            <a:pPr algn="just">
              <a:spcAft>
                <a:spcPts val="500"/>
              </a:spcAft>
            </a:pP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[설계 요약]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Aft>
                <a:spcPts val="500"/>
              </a:spcAft>
              <a:buNone/>
            </a:pPr>
            <a:r>
              <a:rPr lang="ko-KR" altLang="ko-KR" sz="2400" dirty="0"/>
              <a:t>SNN 1차 </a:t>
            </a:r>
            <a:r>
              <a:rPr lang="ko-KR" altLang="ko-KR" sz="2400" dirty="0" err="1"/>
              <a:t>게이팅</a:t>
            </a:r>
            <a:r>
              <a:rPr lang="ko-KR" altLang="ko-KR" sz="2400" dirty="0"/>
              <a:t> + CNN 정밀 탐지를 결합한</a:t>
            </a:r>
            <a:r>
              <a:rPr lang="en-US" altLang="ko-KR" sz="2400" dirty="0"/>
              <a:t> FPGA SoC on-board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캐스케이드</a:t>
            </a:r>
            <a:r>
              <a:rPr lang="ko-KR" altLang="ko-KR" sz="2400" dirty="0"/>
              <a:t> 영상 인식 시스템</a:t>
            </a:r>
            <a:endParaRPr lang="en-US" altLang="ko-KR" sz="2400" dirty="0"/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• </a:t>
            </a:r>
            <a:r>
              <a:rPr lang="ko-KR" altLang="ko-KR" sz="2400" dirty="0"/>
              <a:t>프레임 차분 정보 기반 → </a:t>
            </a:r>
            <a:r>
              <a:rPr lang="ko-KR" altLang="ko-KR" sz="2400" dirty="0" err="1"/>
              <a:t>SNN이</a:t>
            </a:r>
            <a:r>
              <a:rPr lang="ko-KR" altLang="ko-KR" sz="2400" dirty="0"/>
              <a:t> 비행 움직임 후보 판별</a:t>
            </a:r>
            <a:endParaRPr lang="en-US" altLang="ko-KR" sz="2400" dirty="0"/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• </a:t>
            </a:r>
            <a:r>
              <a:rPr lang="ko-KR" altLang="ko-KR" sz="2400" dirty="0"/>
              <a:t>후보 감지 시에만 CNN 클럭 활성화 → 평시 소비전력 최소화</a:t>
            </a:r>
            <a:endParaRPr lang="en-US" altLang="ko-KR" sz="2400" dirty="0"/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• </a:t>
            </a:r>
            <a:r>
              <a:rPr lang="ko-KR" altLang="ko-KR" sz="2400" dirty="0"/>
              <a:t>CNN 탐지 좌표 → </a:t>
            </a:r>
            <a:r>
              <a:rPr lang="ko-KR" altLang="ko-KR" sz="2400" dirty="0" err="1"/>
              <a:t>팬틸트</a:t>
            </a:r>
            <a:r>
              <a:rPr lang="ko-KR" altLang="ko-KR" sz="2400" dirty="0"/>
              <a:t> </a:t>
            </a:r>
            <a:r>
              <a:rPr lang="ko-KR" altLang="ko-KR" sz="2400" dirty="0" err="1"/>
              <a:t>짐벌</a:t>
            </a:r>
            <a:r>
              <a:rPr lang="ko-KR" altLang="ko-KR" sz="2400" dirty="0"/>
              <a:t> 제어 → 영상 </a:t>
            </a:r>
            <a:r>
              <a:rPr lang="ko-KR" altLang="ko-KR" sz="2400" dirty="0" err="1"/>
              <a:t>인식~추적까지</a:t>
            </a:r>
            <a:r>
              <a:rPr lang="ko-KR" altLang="ko-KR" sz="2400" dirty="0"/>
              <a:t> </a:t>
            </a:r>
            <a:r>
              <a:rPr lang="ko-KR" altLang="ko-KR" sz="2400" dirty="0" err="1"/>
              <a:t>폐루프</a:t>
            </a:r>
            <a:r>
              <a:rPr lang="ko-KR" altLang="ko-KR" sz="2400" dirty="0"/>
              <a:t> 구현</a:t>
            </a:r>
            <a:endParaRPr lang="en-US" altLang="ko-KR" sz="2400" dirty="0"/>
          </a:p>
          <a:p>
            <a:pPr lvl="0" algn="just">
              <a:spcAft>
                <a:spcPts val="500"/>
              </a:spcAft>
              <a:buNone/>
            </a:pP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[핵심 성능 지표]</a:t>
            </a:r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• SNN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의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드론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움직임 탐지 정확도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98%, CNN Object Detection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의 추론 정확도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AP@0.5=89%</a:t>
            </a:r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•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실시간 추론 속도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37FPS (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지연 없는 탐지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,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추적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)</a:t>
            </a:r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•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감시 전력 오버헤드는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+12mA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이며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, CNN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단독 설계 대비 최대 </a:t>
            </a:r>
            <a:r>
              <a:rPr lang="en-US" altLang="ko-KR" sz="2200" b="1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42%(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출현율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1%)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의 전력 절감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[구조의 확장성]</a:t>
            </a:r>
            <a:endParaRPr lang="en-US" altLang="ko-KR" sz="2400" dirty="0">
              <a:solidFill>
                <a:srgbClr val="9537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ko-KR" altLang="ko-KR" sz="2200" dirty="0"/>
              <a:t>감시</a:t>
            </a:r>
            <a:r>
              <a:rPr lang="en-US" altLang="ko-KR" sz="2200" dirty="0"/>
              <a:t>(</a:t>
            </a:r>
            <a:r>
              <a:rPr lang="ko-KR" altLang="en-US" sz="2200" dirty="0"/>
              <a:t>평시</a:t>
            </a:r>
            <a:r>
              <a:rPr lang="en-US" altLang="ko-KR" sz="2200" dirty="0"/>
              <a:t>) </a:t>
            </a:r>
            <a:r>
              <a:rPr lang="ko-KR" altLang="en-US" sz="2200" dirty="0"/>
              <a:t>소비전력 </a:t>
            </a:r>
            <a:r>
              <a:rPr lang="ko-KR" altLang="ko-KR" sz="2200" dirty="0"/>
              <a:t>: 모델 크기 무관 </a:t>
            </a:r>
            <a:r>
              <a:rPr lang="ko-KR" altLang="ko-KR" sz="2200" b="1" dirty="0"/>
              <a:t>고정 (+12 </a:t>
            </a:r>
            <a:r>
              <a:rPr lang="ko-KR" altLang="ko-KR" sz="2200" b="1" dirty="0" err="1"/>
              <a:t>mA</a:t>
            </a:r>
            <a:r>
              <a:rPr lang="ko-KR" altLang="ko-KR" sz="2200" b="1" dirty="0"/>
              <a:t>)</a:t>
            </a:r>
            <a:endParaRPr lang="en-US" altLang="ko-KR" sz="2200" b="1" dirty="0"/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ko-KR" altLang="ko-KR" sz="2200" dirty="0"/>
              <a:t>CNN 상시 구동 비용: 모델 규모에 비례</a:t>
            </a:r>
            <a:r>
              <a:rPr lang="ko-KR" altLang="en-US" sz="2200" dirty="0"/>
              <a:t>하여</a:t>
            </a:r>
            <a:r>
              <a:rPr lang="ko-KR" altLang="ko-KR" sz="2200" dirty="0"/>
              <a:t> 증가</a:t>
            </a:r>
            <a:r>
              <a:rPr lang="en-US" altLang="ko-KR" sz="2200" b="1" dirty="0"/>
              <a:t>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고성능 모델로 갈수록 </a:t>
            </a:r>
            <a:r>
              <a:rPr lang="ko-KR" altLang="en-US" sz="2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게이팅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 구조의 가치 증가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ko-KR" altLang="en-US" sz="2400" dirty="0">
                <a:solidFill>
                  <a:srgbClr val="95373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[향후 과제]</a:t>
            </a:r>
            <a:endParaRPr lang="en-US" altLang="ko-KR" sz="2400" dirty="0">
              <a:solidFill>
                <a:srgbClr val="9537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•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탐지 성능 향상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: </a:t>
            </a:r>
            <a:r>
              <a:rPr lang="ko-KR" altLang="ko-KR" sz="2200" dirty="0"/>
              <a:t>저해상도 후보 탐색 후 해당 영역만 고해상도 </a:t>
            </a:r>
            <a:r>
              <a:rPr lang="ko-KR" altLang="en-US" sz="2200" dirty="0"/>
              <a:t>분석하는 구조 </a:t>
            </a:r>
            <a:r>
              <a:rPr lang="ko-KR" altLang="ko-KR" sz="2200" dirty="0"/>
              <a:t>도입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•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실제 환경 강건성 개선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Microsoft Sans Serif"/>
              </a:rPr>
              <a:t>: </a:t>
            </a:r>
            <a:r>
              <a:rPr lang="ko-KR" altLang="ko-KR" sz="2200" dirty="0"/>
              <a:t>카메라 </a:t>
            </a:r>
            <a:r>
              <a:rPr lang="ko-KR" altLang="ko-KR" sz="2200" dirty="0" err="1"/>
              <a:t>진동·배경</a:t>
            </a:r>
            <a:r>
              <a:rPr lang="ko-KR" altLang="ko-KR" sz="2200" dirty="0"/>
              <a:t> </a:t>
            </a:r>
            <a:r>
              <a:rPr lang="ko-KR" altLang="ko-KR" sz="2200" dirty="0" err="1"/>
              <a:t>움직임·조명·기상</a:t>
            </a:r>
            <a:r>
              <a:rPr lang="ko-KR" altLang="ko-KR" sz="2200" dirty="0"/>
              <a:t> 등 데이터셋 보강</a:t>
            </a:r>
            <a:r>
              <a:rPr lang="en-US" altLang="ko-KR" sz="2200" dirty="0"/>
              <a:t>,</a:t>
            </a:r>
            <a:r>
              <a:rPr lang="ko-KR" altLang="en-US" sz="2200" dirty="0"/>
              <a:t> 다양한 환경에서 성능 확보 필요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algn="just">
              <a:spcBef>
                <a:spcPts val="200"/>
              </a:spcBef>
              <a:spcAft>
                <a:spcPts val="450"/>
              </a:spcAft>
            </a:pPr>
            <a:endParaRPr lang="en-US" altLang="ko-KR" sz="2200" dirty="0">
              <a:solidFill>
                <a:srgbClr val="95373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  <a:p>
            <a:pPr lvl="0" algn="just">
              <a:spcBef>
                <a:spcPts val="200"/>
              </a:spcBef>
              <a:spcAft>
                <a:spcPts val="450"/>
              </a:spcAft>
              <a:buNone/>
            </a:pP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Microsoft Sans Serif"/>
            </a:endParaRPr>
          </a:p>
        </p:txBody>
      </p:sp>
      <p:grpSp>
        <p:nvGrpSpPr>
          <p:cNvPr id="999" name="그룹 998">
            <a:extLst>
              <a:ext uri="{FF2B5EF4-FFF2-40B4-BE49-F238E27FC236}">
                <a16:creationId xmlns:a16="http://schemas.microsoft.com/office/drawing/2014/main" id="{F41FD068-6303-3798-A7DA-33778095E3AF}"/>
              </a:ext>
            </a:extLst>
          </p:cNvPr>
          <p:cNvGrpSpPr/>
          <p:nvPr/>
        </p:nvGrpSpPr>
        <p:grpSpPr>
          <a:xfrm>
            <a:off x="24480259" y="5366617"/>
            <a:ext cx="2228434" cy="394411"/>
            <a:chOff x="26757938" y="9447096"/>
            <a:chExt cx="2228434" cy="394411"/>
          </a:xfrm>
        </p:grpSpPr>
        <p:sp>
          <p:nvSpPr>
            <p:cNvPr id="1000" name="직사각형 999">
              <a:extLst>
                <a:ext uri="{FF2B5EF4-FFF2-40B4-BE49-F238E27FC236}">
                  <a16:creationId xmlns:a16="http://schemas.microsoft.com/office/drawing/2014/main" id="{20061161-7CCC-30AA-BDA1-F65C01D05388}"/>
                </a:ext>
              </a:extLst>
            </p:cNvPr>
            <p:cNvSpPr/>
            <p:nvPr/>
          </p:nvSpPr>
          <p:spPr>
            <a:xfrm>
              <a:off x="26948760" y="9462627"/>
              <a:ext cx="2037612" cy="3617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레이저 모듈</a:t>
              </a:r>
            </a:p>
          </p:txBody>
        </p:sp>
        <p:sp>
          <p:nvSpPr>
            <p:cNvPr id="1002" name="순서도: 연결자 1001">
              <a:extLst>
                <a:ext uri="{FF2B5EF4-FFF2-40B4-BE49-F238E27FC236}">
                  <a16:creationId xmlns:a16="http://schemas.microsoft.com/office/drawing/2014/main" id="{04F0EED2-7715-A232-02BD-0D9E09A925E6}"/>
                </a:ext>
              </a:extLst>
            </p:cNvPr>
            <p:cNvSpPr/>
            <p:nvPr/>
          </p:nvSpPr>
          <p:spPr>
            <a:xfrm>
              <a:off x="26757938" y="9447096"/>
              <a:ext cx="394411" cy="394411"/>
            </a:xfrm>
            <a:prstGeom prst="flowChartConnector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03" name="그룹 1002">
            <a:extLst>
              <a:ext uri="{FF2B5EF4-FFF2-40B4-BE49-F238E27FC236}">
                <a16:creationId xmlns:a16="http://schemas.microsoft.com/office/drawing/2014/main" id="{0011AB07-BCC2-1D22-295B-80A55FB99ACD}"/>
              </a:ext>
            </a:extLst>
          </p:cNvPr>
          <p:cNvGrpSpPr/>
          <p:nvPr/>
        </p:nvGrpSpPr>
        <p:grpSpPr>
          <a:xfrm>
            <a:off x="27506399" y="8782479"/>
            <a:ext cx="1479973" cy="394411"/>
            <a:chOff x="27733731" y="8205444"/>
            <a:chExt cx="1479973" cy="394411"/>
          </a:xfrm>
        </p:grpSpPr>
        <p:sp>
          <p:nvSpPr>
            <p:cNvPr id="1004" name="직사각형 1003">
              <a:extLst>
                <a:ext uri="{FF2B5EF4-FFF2-40B4-BE49-F238E27FC236}">
                  <a16:creationId xmlns:a16="http://schemas.microsoft.com/office/drawing/2014/main" id="{2671B684-25B7-0B41-6841-B7C731166BBA}"/>
                </a:ext>
              </a:extLst>
            </p:cNvPr>
            <p:cNvSpPr/>
            <p:nvPr/>
          </p:nvSpPr>
          <p:spPr>
            <a:xfrm>
              <a:off x="27924553" y="8220975"/>
              <a:ext cx="1289151" cy="3617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카메라</a:t>
              </a:r>
            </a:p>
          </p:txBody>
        </p:sp>
        <p:sp>
          <p:nvSpPr>
            <p:cNvPr id="1005" name="순서도: 연결자 1004">
              <a:extLst>
                <a:ext uri="{FF2B5EF4-FFF2-40B4-BE49-F238E27FC236}">
                  <a16:creationId xmlns:a16="http://schemas.microsoft.com/office/drawing/2014/main" id="{89861F13-366C-E770-1611-4F0C536E6CF3}"/>
                </a:ext>
              </a:extLst>
            </p:cNvPr>
            <p:cNvSpPr/>
            <p:nvPr/>
          </p:nvSpPr>
          <p:spPr>
            <a:xfrm>
              <a:off x="27733731" y="8205444"/>
              <a:ext cx="394411" cy="394411"/>
            </a:xfrm>
            <a:prstGeom prst="flowChartConnector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06" name="직사각형 1005">
            <a:extLst>
              <a:ext uri="{FF2B5EF4-FFF2-40B4-BE49-F238E27FC236}">
                <a16:creationId xmlns:a16="http://schemas.microsoft.com/office/drawing/2014/main" id="{8146C622-973B-9FD9-3F98-8EA4B9C052D0}"/>
              </a:ext>
            </a:extLst>
          </p:cNvPr>
          <p:cNvSpPr/>
          <p:nvPr/>
        </p:nvSpPr>
        <p:spPr>
          <a:xfrm>
            <a:off x="24769415" y="8180971"/>
            <a:ext cx="2638646" cy="3617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팬틸트</a:t>
            </a:r>
            <a:r>
              <a:rPr lang="ko-KR" altLang="en-US" sz="2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서보모터</a:t>
            </a:r>
            <a:endParaRPr lang="ko-KR" altLang="en-US" sz="2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7" name="순서도: 연결자 1006">
            <a:extLst>
              <a:ext uri="{FF2B5EF4-FFF2-40B4-BE49-F238E27FC236}">
                <a16:creationId xmlns:a16="http://schemas.microsoft.com/office/drawing/2014/main" id="{4918370A-A48F-D0C7-0334-5B94E757D263}"/>
              </a:ext>
            </a:extLst>
          </p:cNvPr>
          <p:cNvSpPr/>
          <p:nvPr/>
        </p:nvSpPr>
        <p:spPr>
          <a:xfrm>
            <a:off x="24578592" y="8165440"/>
            <a:ext cx="394411" cy="39441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08" name="직선 화살표 연결선 1007">
            <a:extLst>
              <a:ext uri="{FF2B5EF4-FFF2-40B4-BE49-F238E27FC236}">
                <a16:creationId xmlns:a16="http://schemas.microsoft.com/office/drawing/2014/main" id="{6B405537-E1BE-57A5-AAD1-562F188BAB0B}"/>
              </a:ext>
            </a:extLst>
          </p:cNvPr>
          <p:cNvCxnSpPr>
            <a:cxnSpLocks/>
          </p:cNvCxnSpPr>
          <p:nvPr/>
        </p:nvCxnSpPr>
        <p:spPr>
          <a:xfrm flipV="1">
            <a:off x="26978844" y="7017747"/>
            <a:ext cx="523929" cy="114607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9" name="직선 화살표 연결선 1008">
            <a:extLst>
              <a:ext uri="{FF2B5EF4-FFF2-40B4-BE49-F238E27FC236}">
                <a16:creationId xmlns:a16="http://schemas.microsoft.com/office/drawing/2014/main" id="{C927A4DC-AEDD-9056-D266-B246718E5411}"/>
              </a:ext>
            </a:extLst>
          </p:cNvPr>
          <p:cNvCxnSpPr>
            <a:cxnSpLocks/>
          </p:cNvCxnSpPr>
          <p:nvPr/>
        </p:nvCxnSpPr>
        <p:spPr>
          <a:xfrm flipV="1">
            <a:off x="28341797" y="6603183"/>
            <a:ext cx="128404" cy="219482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1" name="직선 화살표 연결선 1010">
            <a:extLst>
              <a:ext uri="{FF2B5EF4-FFF2-40B4-BE49-F238E27FC236}">
                <a16:creationId xmlns:a16="http://schemas.microsoft.com/office/drawing/2014/main" id="{404D29C9-E751-DEA4-DA67-C080D03B1412}"/>
              </a:ext>
            </a:extLst>
          </p:cNvPr>
          <p:cNvCxnSpPr>
            <a:cxnSpLocks/>
          </p:cNvCxnSpPr>
          <p:nvPr/>
        </p:nvCxnSpPr>
        <p:spPr>
          <a:xfrm>
            <a:off x="26669053" y="5624496"/>
            <a:ext cx="1672743" cy="35489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012" name="table_1013">
            <a:extLst>
              <a:ext uri="{FF2B5EF4-FFF2-40B4-BE49-F238E27FC236}">
                <a16:creationId xmlns:a16="http://schemas.microsoft.com/office/drawing/2014/main" id="{17EC4A03-EEC8-0D09-0759-9800517A07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0356582"/>
              </p:ext>
            </p:extLst>
          </p:nvPr>
        </p:nvGraphicFramePr>
        <p:xfrm>
          <a:off x="24125902" y="12787961"/>
          <a:ext cx="5654367" cy="201526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79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28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탐지율</a:t>
                      </a:r>
                      <a:endParaRPr lang="ko-KR" altLang="en-US" sz="2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AP@0.5 = 89</a:t>
                      </a:r>
                      <a:r>
                        <a:rPr lang="ko-KR" altLang="en-US" sz="2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입력 해상도 /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160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×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90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 / 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20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×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11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×6 grid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30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총 MAC / frame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약 42 </a:t>
                      </a:r>
                      <a:r>
                        <a:rPr lang="ko-KR" altLang="en-US" sz="2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M</a:t>
                      </a:r>
                      <a:endParaRPr lang="ko-KR" altLang="en-US" sz="20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icrosoft San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처리 속도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icrosoft Sans Serif"/>
                        </a:rPr>
                        <a:t>약 37 FPS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3" name="TextBox 1012">
            <a:extLst>
              <a:ext uri="{FF2B5EF4-FFF2-40B4-BE49-F238E27FC236}">
                <a16:creationId xmlns:a16="http://schemas.microsoft.com/office/drawing/2014/main" id="{9F5EFBAB-72D9-60FF-71A8-5A9D1E2CAB3F}"/>
              </a:ext>
            </a:extLst>
          </p:cNvPr>
          <p:cNvSpPr txBox="1"/>
          <p:nvPr/>
        </p:nvSpPr>
        <p:spPr>
          <a:xfrm>
            <a:off x="24025521" y="14857926"/>
            <a:ext cx="5780066" cy="3847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2] CNN 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탐지 성능 요약</a:t>
            </a:r>
          </a:p>
        </p:txBody>
      </p:sp>
      <p:pic>
        <p:nvPicPr>
          <p:cNvPr id="1014" name="그림 1013">
            <a:extLst>
              <a:ext uri="{FF2B5EF4-FFF2-40B4-BE49-F238E27FC236}">
                <a16:creationId xmlns:a16="http://schemas.microsoft.com/office/drawing/2014/main" id="{54B794EF-1F67-5200-182D-A5819D431C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397653" y="20594163"/>
            <a:ext cx="6396454" cy="3409009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B792D550-9BF2-B98D-9333-33630CC416B7}"/>
              </a:ext>
            </a:extLst>
          </p:cNvPr>
          <p:cNvSpPr txBox="1"/>
          <p:nvPr/>
        </p:nvSpPr>
        <p:spPr>
          <a:xfrm>
            <a:off x="15514281" y="25602091"/>
            <a:ext cx="756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Reference: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탐지 기능을 뺀 카메라 입력→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HDMI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 기준 디자인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공통 비용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595mA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제외한 증가분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(Δ)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방식 간 전력을 비교한다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6" name="TextBox 1015">
            <a:extLst>
              <a:ext uri="{FF2B5EF4-FFF2-40B4-BE49-F238E27FC236}">
                <a16:creationId xmlns:a16="http://schemas.microsoft.com/office/drawing/2014/main" id="{33B42836-B1D0-507C-A1AA-1E0124B812B6}"/>
              </a:ext>
            </a:extLst>
          </p:cNvPr>
          <p:cNvSpPr txBox="1"/>
          <p:nvPr/>
        </p:nvSpPr>
        <p:spPr>
          <a:xfrm>
            <a:off x="15577209" y="25161968"/>
            <a:ext cx="45961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6] </a:t>
            </a:r>
            <a:r>
              <a:rPr lang="ko-KR" altLang="en-US" sz="19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구성별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전류</a:t>
            </a:r>
          </a:p>
        </p:txBody>
      </p:sp>
      <p:sp>
        <p:nvSpPr>
          <p:cNvPr id="1017" name="TextBox 1016">
            <a:extLst>
              <a:ext uri="{FF2B5EF4-FFF2-40B4-BE49-F238E27FC236}">
                <a16:creationId xmlns:a16="http://schemas.microsoft.com/office/drawing/2014/main" id="{8AD4C929-3966-1C6B-FD21-0122FEF36E2C}"/>
              </a:ext>
            </a:extLst>
          </p:cNvPr>
          <p:cNvSpPr txBox="1"/>
          <p:nvPr/>
        </p:nvSpPr>
        <p:spPr>
          <a:xfrm>
            <a:off x="23328445" y="24041563"/>
            <a:ext cx="45961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7] </a:t>
            </a:r>
            <a:r>
              <a:rPr lang="ko-KR" altLang="en-US" sz="19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드론</a:t>
            </a:r>
            <a:r>
              <a:rPr lang="ko-KR" altLang="en-US" sz="19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출현율에 따른 전력 </a:t>
            </a:r>
            <a:r>
              <a:rPr lang="ko-KR" altLang="en-US" sz="19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절감률</a:t>
            </a:r>
            <a:endParaRPr lang="ko-KR" altLang="en-US" sz="19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0B3A80B-DC0D-4F3B-8B88-D5852B655210}"/>
              </a:ext>
            </a:extLst>
          </p:cNvPr>
          <p:cNvSpPr/>
          <p:nvPr/>
        </p:nvSpPr>
        <p:spPr>
          <a:xfrm>
            <a:off x="20380725" y="22566360"/>
            <a:ext cx="381070" cy="152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607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0372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>
  <a:themeElements>
    <a:clrScheme name="PowerPoin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000000"/>
      </a:accent3>
      <a:accent4>
        <a:srgbClr val="4338C6"/>
      </a:accent4>
      <a:accent5>
        <a:srgbClr val="B2CEFF"/>
      </a:accent5>
      <a:accent6>
        <a:srgbClr val="B9B9B9"/>
      </a:accent6>
      <a:hlink>
        <a:srgbClr val="0000FF"/>
      </a:hlink>
      <a:folHlink>
        <a:srgbClr val="800080"/>
      </a:folHlink>
    </a:clrScheme>
    <a:fontScheme name="">
      <a:majorFont>
        <a:latin typeface="HNC_GO_B_HINT_GS"/>
        <a:ea typeface=""/>
        <a:cs typeface="HNC_GO_B_HINT_GS"/>
      </a:majorFont>
      <a:minorFont>
        <a:latin typeface="HNC_GO_B_HINT_GS"/>
        <a:ea typeface=""/>
        <a:cs typeface="HNC_GO_B_HINT_GS"/>
      </a:minorFont>
    </a:fontScheme>
    <a:fmtScheme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45398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635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"/>
      </a:majorFont>
      <a:minorFont>
        <a:latin typeface="함초롬돋움"/>
        <a:ea typeface="함초롬돋움"/>
        <a:cs typeface="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3069132-1E5E-4464-9098-EEA3FC1FB33B}">
  <we:reference id="wa200010725" version="1.0.0.1" store="ko-KR" storeType="OMEX"/>
  <we:alternateReferences>
    <we:reference id="WA200010725" version="1.0.0.1" store="" storeType="OMEX"/>
  </we:alternateReferences>
  <we:properties>
    <we:property name="claude.fileId" value="&quot;73094e45-78ac-47f5-9206-478e29e397c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9CCFF7-9CF3-4CCC-8407-9FCACFEED925}">
  <we:reference id="wa200010001" version="1.0.0.1" store="ko-KR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5543</TotalTime>
  <Words>1507</Words>
  <Application>Microsoft Office PowerPoint</Application>
  <PresentationFormat>사용자 지정</PresentationFormat>
  <Paragraphs>187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HNC_GO_B_HINT_GS</vt:lpstr>
      <vt:lpstr>맑은 고딕</vt:lpstr>
      <vt:lpstr>함초롬돋움</vt:lpstr>
      <vt:lpstr>Arial</vt:lpstr>
      <vt:lpstr>Cambria Math</vt:lpstr>
      <vt:lpstr>Microsoft Sans Serif</vt:lpstr>
      <vt:lpstr/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Kris Williams</dc:creator>
  <cp:lastModifiedBy>Sion Park</cp:lastModifiedBy>
  <cp:revision>95</cp:revision>
  <dcterms:created xsi:type="dcterms:W3CDTF">2009-03-24T10:14:40Z</dcterms:created>
  <dcterms:modified xsi:type="dcterms:W3CDTF">2026-09-25T13:20:58Z</dcterms:modified>
</cp:coreProperties>
</file>